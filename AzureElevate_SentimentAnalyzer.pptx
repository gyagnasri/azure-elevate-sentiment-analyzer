
<file path=[Content_Types].xml><?xml version="1.0" encoding="utf-8"?>
<Types xmlns="http://schemas.openxmlformats.org/package/2006/content-types">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package.core-properties+xml" PartName="/docProps/core.xml"/>
</Types>
</file>

<file path=_rels/.rels><?xml version="1.0" encoding="UTF-8" standalone="yes"?><Relationships xmlns="http://schemas.openxmlformats.org/package/2006/relationships"><Relationship Id="rId3" Target="ppt/presentation.xml" Type="http://schemas.openxmlformats.org/officeDocument/2006/relationships/officeDocument"/><Relationship Id="rId2" Target="docProps/core.xml" Type="http://schemas.openxmlformats.org/package/2006/relationships/metadata/core-properties"/><Relationship Id="rId1"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saveSubsetFonts="1">
  <p:sldMasterIdLst>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43500"/>
  <p:notesSz cx="5143500" cy="9144000"/>
  <p:defaultTextStyle>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d="100" n="136"/>
          <a:sy d="100" n="136"/>
        </p:scale>
        <p:origin x="216" y="312"/>
      </p:cViewPr>
      <p:guideLst/>
    </p:cSldViewPr>
  </p:slideViewPr>
  <p:notesTextViewPr>
    <p:cViewPr>
      <p:scale>
        <a:sx d="1" n="1"/>
        <a:sy d="1" n="1"/>
      </p:scale>
      <p:origin x="0" y="0"/>
    </p:cViewPr>
  </p:notesTextViewPr>
  <p:gridSpacing cx="76200" cy="76200"/>
</p:viewPr>
</file>

<file path=ppt/_rels/presentation.xml.rels><?xml version="1.0" encoding="UTF-8" standalone="yes"?><Relationships xmlns="http://schemas.openxmlformats.org/package/2006/relationships"><Relationship Id="rId17" Target="slides/slide11.xml" Type="http://schemas.openxmlformats.org/officeDocument/2006/relationships/slide"/><Relationship Id="rId16" Target="slides/slide10.xml" Type="http://schemas.openxmlformats.org/officeDocument/2006/relationships/slide"/><Relationship Id="rId15" Target="slides/slide9.xml" Type="http://schemas.openxmlformats.org/officeDocument/2006/relationships/slide"/><Relationship Id="rId14" Target="slides/slide8.xml" Type="http://schemas.openxmlformats.org/officeDocument/2006/relationships/slide"/><Relationship Id="rId13" Target="slides/slide7.xml" Type="http://schemas.openxmlformats.org/officeDocument/2006/relationships/slide"/><Relationship Id="rId12" Target="slides/slide6.xml" Type="http://schemas.openxmlformats.org/officeDocument/2006/relationships/slide"/><Relationship Id="rId11" Target="slides/slide5.xml" Type="http://schemas.openxmlformats.org/officeDocument/2006/relationships/slide"/><Relationship Id="rId10" Target="slides/slide4.xml" Type="http://schemas.openxmlformats.org/officeDocument/2006/relationships/slide"/><Relationship Id="rId9" Target="slides/slide3.xml" Type="http://schemas.openxmlformats.org/officeDocument/2006/relationships/slide"/><Relationship Id="rId8" Target="slides/slide2.xml" Type="http://schemas.openxmlformats.org/officeDocument/2006/relationships/slide"/><Relationship Id="rId7" Target="slides/slide1.xml" Type="http://schemas.openxmlformats.org/officeDocument/2006/relationships/slide"/><Relationship Id="rId6" Target="notesMasters/notesMaster1.xml" Type="http://schemas.openxmlformats.org/officeDocument/2006/relationships/notesMaster"/><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 Target="viewProps.xml" Type="http://schemas.openxmlformats.org/officeDocument/2006/relationships/viewProps"/><Relationship Id="rId1" Target="theme/theme1.xml" Type="http://schemas.openxmlformats.org/officeDocument/2006/relationships/theme"/></Relationships>
</file>

<file path=ppt/notesMasters/_rels/notesMaster1.xml.rels><?xml version="1.0" encoding="UTF-8" standalone="yes"?><Relationships xmlns="http://schemas.openxmlformats.org/package/2006/relationships"><Relationship Id="rId1" Target="../theme/theme1.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numCol="1"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numCol="1" rIns="91440" rtlCol="0" tIns="45720" vert="horz"/>
          <a:lstStyle>
            <a:lvl1pPr algn="r">
              <a:defRPr sz="1200"/>
            </a:lvl1pPr>
          </a:lstStyle>
          <a:p>
            <a:fld id="{5282F153-3F37-0F45-9E97-73ACFA13230C}" type="datetimeFigureOut">
              <a:rPr lang="en-US"/>
              <a:t>7/23/19</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numCol="1"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numCol="1" rIns="91440" rtlCol="0" tIns="45720"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numCol="1"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numCol="1" rIns="91440" rtlCol="0" tIns="45720" vert="horz"/>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arget="../slides/slide1.xml" Type="http://schemas.openxmlformats.org/officeDocument/2006/relationships/slide"/><Relationship Id="rId1" Target="../notesMasters/notesMaster1.xml" Type="http://schemas.openxmlformats.org/officeDocument/2006/relationships/notesMaster"/></Relationships>
</file>

<file path=ppt/notesSlides/_rels/notesSlide2.xml.rels><?xml version="1.0" encoding="UTF-8" standalone="yes"?><Relationships xmlns="http://schemas.openxmlformats.org/package/2006/relationships"><Relationship Id="rId2" Target="../slides/slide2.xml" Type="http://schemas.openxmlformats.org/officeDocument/2006/relationships/slide"/><Relationship Id="rId1" Target="../notesMasters/notesMaster1.xml" Type="http://schemas.openxmlformats.org/officeDocument/2006/relationships/notesMaster"/></Relationships>
</file>

<file path=ppt/notesSlides/_rels/notesSlide3.xml.rels><?xml version="1.0" encoding="UTF-8" standalone="yes"?><Relationships xmlns="http://schemas.openxmlformats.org/package/2006/relationships"><Relationship Id="rId2" Target="../slides/slide3.xml" Type="http://schemas.openxmlformats.org/officeDocument/2006/relationships/slide"/><Relationship Id="rId1" Target="../notesMasters/notesMaster1.xml" Type="http://schemas.openxmlformats.org/officeDocument/2006/relationships/notesMaster"/></Relationships>
</file>

<file path=ppt/notesSlides/_rels/notesSlide4.xml.rels><?xml version="1.0" encoding="UTF-8" standalone="yes"?><Relationships xmlns="http://schemas.openxmlformats.org/package/2006/relationships"><Relationship Id="rId2" Target="../slides/slide4.xml" Type="http://schemas.openxmlformats.org/officeDocument/2006/relationships/slide"/><Relationship Id="rId1" Target="../notesMasters/notesMaster1.xml" Type="http://schemas.openxmlformats.org/officeDocument/2006/relationships/notesMaster"/></Relationships>
</file>

<file path=ppt/notesSlides/_rels/notesSlide5.xml.rels><?xml version="1.0" encoding="UTF-8" standalone="yes"?><Relationships xmlns="http://schemas.openxmlformats.org/package/2006/relationships"><Relationship Id="rId2" Target="../slides/slide5.xml" Type="http://schemas.openxmlformats.org/officeDocument/2006/relationships/slide"/><Relationship Id="rId1" Target="../notesMasters/notesMaster1.xml" Type="http://schemas.openxmlformats.org/officeDocument/2006/relationships/notesMaster"/></Relationships>
</file>

<file path=ppt/notesSlides/_rels/notesSlide6.xml.rels><?xml version="1.0" encoding="UTF-8" standalone="yes"?><Relationships xmlns="http://schemas.openxmlformats.org/package/2006/relationships"><Relationship Id="rId2" Target="../slides/slide6.xml" Type="http://schemas.openxmlformats.org/officeDocument/2006/relationships/slide"/><Relationship Id="rId1" Target="../notesMasters/notesMaster1.xml" Type="http://schemas.openxmlformats.org/officeDocument/2006/relationships/notesMaster"/></Relationships>
</file>

<file path=ppt/notesSlides/_rels/notesSlide7.xml.rels><?xml version="1.0" encoding="UTF-8" standalone="yes"?><Relationships xmlns="http://schemas.openxmlformats.org/package/2006/relationships"><Relationship Id="rId2" Target="../slides/slide7.xml" Type="http://schemas.openxmlformats.org/officeDocument/2006/relationships/slide"/><Relationship Id="rId1" Target="../notesMasters/notesMaster1.xml" Type="http://schemas.openxmlformats.org/officeDocument/2006/relationships/notesMaster"/></Relationships>
</file>

<file path=ppt/notesSlides/_rels/notesSlide8.xml.rels><?xml version="1.0" encoding="UTF-8" standalone="yes"?><Relationships xmlns="http://schemas.openxmlformats.org/package/2006/relationships"><Relationship Id="rId2" Target="../slides/slide8.xml" Type="http://schemas.openxmlformats.org/officeDocument/2006/relationships/slide"/><Relationship Id="rId1" Target="../notesMasters/notesMaster1.xml" Type="http://schemas.openxmlformats.org/officeDocument/2006/relationships/notesMaster"/></Relationships>
</file>

<file path=ppt/notesSlides/_rels/notesSlide9.xml.rels><?xml version="1.0" encoding="UTF-8" standalone="yes"?><Relationships xmlns="http://schemas.openxmlformats.org/package/2006/relationships"><Relationship Id="rId2" Target="../slides/slide9.xml" Type="http://schemas.openxmlformats.org/officeDocument/2006/relationships/slide"/><Relationship Id="rId1" Target="../notesMasters/notesMaster1.xml" Type="http://schemas.openxmlformats.org/officeDocument/2006/relationships/notesMaster"/></Relationships>
</file>

<file path=ppt/notesSlides/_rels/notesSlide10.xml.rels><?xml version="1.0" encoding="UTF-8" standalone="yes"?><Relationships xmlns="http://schemas.openxmlformats.org/package/2006/relationships"><Relationship Id="rId2" Target="../slides/slide10.xml" Type="http://schemas.openxmlformats.org/officeDocument/2006/relationships/slide"/><Relationship Id="rId1" Target="../notesMasters/notesMaster1.xml" Type="http://schemas.openxmlformats.org/officeDocument/2006/relationships/notesMaster"/></Relationships>
</file>

<file path=ppt/notesSlides/_rels/notesSlide11.xml.rels><?xml version="1.0" encoding="UTF-8" standalone="yes"?><Relationships xmlns="http://schemas.openxmlformats.org/package/2006/relationships"><Relationship Id="rId2" Target="../slides/slide11.xml" Type="http://schemas.openxmlformats.org/officeDocument/2006/relationships/slide"/><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lstStyle/>
          <a:p>
            <a:r>
              <a:rPr dirty="0" lang="en-US"/>
              <a:t/>
            </a:r>
            <a:endParaRPr dirty="0" lang="en-US"/>
          </a:p>
        </p:txBody>
      </p:sp>
      <p:sp>
        <p:nvSpPr>
          <p:cNvPr id="4" name="Slide Number Placeholder 3"/>
          <p:cNvSpPr>
            <a:spLocks noGrp="1"/>
          </p:cNvSpPr>
          <p:nvPr>
            <p:ph idx="10" sz="quarter" type="sldNum"/>
          </p:nvPr>
        </p:nvSpPr>
        <p:spPr/>
        <p:txBody>
          <a:bodyPr numCol="1"/>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8" r:id="rId2"/>
  </p:sldLayoutIdLst>
  <p:hf dt="0" ftr="0" hdr="0" sldNum="0"/>
  <p:txStyles>
    <p:titleStyle>
      <a:lvl1pPr algn="ctr" defTabSz="914400" eaLnBrk="1" hangingPunct="1" latinLnBrk="0" rtl="0">
        <a:spcBef>
          <a:spcPct val="0"/>
        </a:spcBef>
        <a:buNone/>
        <a:defRPr kern="1200" sz="4400">
          <a:solidFill>
            <a:schemeClr val="tx1"/>
          </a:solidFill>
          <a:latin typeface="+mj-lt"/>
          <a:ea typeface="+mj-ea"/>
          <a:cs typeface="+mj-cs"/>
        </a:defRPr>
      </a:lvl1pPr>
    </p:titleStyle>
    <p:bodyStyle>
      <a:lvl1pPr algn="l" defTabSz="914400" eaLnBrk="1" hangingPunct="1" indent="-342900" latinLnBrk="0" marL="342900" rtl="0">
        <a:spcBef>
          <a:spcPct val="20000"/>
        </a:spcBef>
        <a:buFont charset="0" pitchFamily="34" typeface="Arial"/>
        <a:buChar char="•"/>
        <a:defRPr kern="1200" sz="3200">
          <a:solidFill>
            <a:schemeClr val="tx1"/>
          </a:solidFill>
          <a:latin typeface="+mn-lt"/>
          <a:ea typeface="+mn-ea"/>
          <a:cs typeface="+mn-cs"/>
        </a:defRPr>
      </a:lvl1pPr>
      <a:lvl2pPr algn="l" defTabSz="914400" eaLnBrk="1" hangingPunct="1" indent="-285750" latinLnBrk="0" marL="742950" rtl="0">
        <a:spcBef>
          <a:spcPct val="20000"/>
        </a:spcBef>
        <a:buFont charset="0" pitchFamily="34" typeface="Arial"/>
        <a:buChar char="–"/>
        <a:defRPr kern="1200" sz="2800">
          <a:solidFill>
            <a:schemeClr val="tx1"/>
          </a:solidFill>
          <a:latin typeface="+mn-lt"/>
          <a:ea typeface="+mn-ea"/>
          <a:cs typeface="+mn-cs"/>
        </a:defRPr>
      </a:lvl2pPr>
      <a:lvl3pPr algn="l" defTabSz="914400" eaLnBrk="1" hangingPunct="1" indent="-228600" latinLnBrk="0" marL="1143000" rtl="0">
        <a:spcBef>
          <a:spcPct val="20000"/>
        </a:spcBef>
        <a:buFont charset="0" pitchFamily="34" typeface="Arial"/>
        <a:buChar char="•"/>
        <a:defRPr kern="1200" sz="2400">
          <a:solidFill>
            <a:schemeClr val="tx1"/>
          </a:solidFill>
          <a:latin typeface="+mn-lt"/>
          <a:ea typeface="+mn-ea"/>
          <a:cs typeface="+mn-cs"/>
        </a:defRPr>
      </a:lvl3pPr>
      <a:lvl4pPr algn="l" defTabSz="914400" eaLnBrk="1" hangingPunct="1" indent="-228600" latinLnBrk="0" marL="1600200" rtl="0">
        <a:spcBef>
          <a:spcPct val="20000"/>
        </a:spcBef>
        <a:buFont charset="0" pitchFamily="34" typeface="Arial"/>
        <a:buChar char="–"/>
        <a:defRPr kern="1200" sz="2000">
          <a:solidFill>
            <a:schemeClr val="tx1"/>
          </a:solidFill>
          <a:latin typeface="+mn-lt"/>
          <a:ea typeface="+mn-ea"/>
          <a:cs typeface="+mn-cs"/>
        </a:defRPr>
      </a:lvl4pPr>
      <a:lvl5pPr algn="l" defTabSz="914400" eaLnBrk="1" hangingPunct="1" indent="-228600" latinLnBrk="0" marL="2057400" rtl="0">
        <a:spcBef>
          <a:spcPct val="20000"/>
        </a:spcBef>
        <a:buFont charset="0" pitchFamily="34" typeface="Arial"/>
        <a:buChar char="»"/>
        <a:defRPr kern="1200" sz="2000">
          <a:solidFill>
            <a:schemeClr val="tx1"/>
          </a:solidFill>
          <a:latin typeface="+mn-lt"/>
          <a:ea typeface="+mn-ea"/>
          <a:cs typeface="+mn-cs"/>
        </a:defRPr>
      </a:lvl5pPr>
      <a:lvl6pPr algn="l" defTabSz="914400" eaLnBrk="1" hangingPunct="1" indent="-228600" latinLnBrk="0" marL="2514600" rtl="0">
        <a:spcBef>
          <a:spcPct val="20000"/>
        </a:spcBef>
        <a:buFont charset="0"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itchFamily="34" typeface="Arial"/>
        <a:buChar char="•"/>
        <a:defRPr kern="1200" sz="20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arget="../notesSlides/notesSlide1.xml" Type="http://schemas.openxmlformats.org/officeDocument/2006/relationships/notesSlide"/><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2" Target="../notesSlides/notesSlide2.xml" Type="http://schemas.openxmlformats.org/officeDocument/2006/relationships/notesSlide"/><Relationship Id="rId1" Target="../slideLayouts/slideLayout1.xml" Type="http://schemas.openxmlformats.org/officeDocument/2006/relationships/slideLayout"/></Relationships>
</file>

<file path=ppt/slides/_rels/slide3.xml.rels><?xml version="1.0" encoding="UTF-8" standalone="yes"?><Relationships xmlns="http://schemas.openxmlformats.org/package/2006/relationships"><Relationship Id="rId2" Target="../notesSlides/notesSlide3.xml" Type="http://schemas.openxmlformats.org/officeDocument/2006/relationships/notesSlide"/><Relationship Id="rId1" Target="../slideLayouts/slideLayout1.xml" Type="http://schemas.openxmlformats.org/officeDocument/2006/relationships/slideLayout"/></Relationships>
</file>

<file path=ppt/slides/_rels/slide4.xml.rels><?xml version="1.0" encoding="UTF-8" standalone="yes"?><Relationships xmlns="http://schemas.openxmlformats.org/package/2006/relationships"><Relationship Id="rId2" Target="../notesSlides/notesSlide4.xml" Type="http://schemas.openxmlformats.org/officeDocument/2006/relationships/notesSlide"/><Relationship Id="rId1" Target="../slideLayouts/slideLayout1.xml" Type="http://schemas.openxmlformats.org/officeDocument/2006/relationships/slideLayout"/></Relationships>
</file>

<file path=ppt/slides/_rels/slide5.xml.rels><?xml version="1.0" encoding="UTF-8" standalone="yes"?><Relationships xmlns="http://schemas.openxmlformats.org/package/2006/relationships"><Relationship Id="rId2" Target="../notesSlides/notesSlide5.xml" Type="http://schemas.openxmlformats.org/officeDocument/2006/relationships/notesSlide"/><Relationship Id="rId1" Target="../slideLayouts/slideLayout1.xml" Type="http://schemas.openxmlformats.org/officeDocument/2006/relationships/slideLayout"/></Relationships>
</file>

<file path=ppt/slides/_rels/slide6.xml.rels><?xml version="1.0" encoding="UTF-8" standalone="yes"?><Relationships xmlns="http://schemas.openxmlformats.org/package/2006/relationships"><Relationship Id="rId2" Target="../notesSlides/notesSlide6.xml" Type="http://schemas.openxmlformats.org/officeDocument/2006/relationships/notesSlide"/><Relationship Id="rId1" Target="../slideLayouts/slideLayout1.xml" Type="http://schemas.openxmlformats.org/officeDocument/2006/relationships/slideLayout"/></Relationships>
</file>

<file path=ppt/slides/_rels/slide7.xml.rels><?xml version="1.0" encoding="UTF-8" standalone="yes"?><Relationships xmlns="http://schemas.openxmlformats.org/package/2006/relationships"><Relationship Id="rId2" Target="../notesSlides/notesSlide7.xml" Type="http://schemas.openxmlformats.org/officeDocument/2006/relationships/notesSlide"/><Relationship Id="rId1" Target="../slideLayouts/slideLayout1.xml" Type="http://schemas.openxmlformats.org/officeDocument/2006/relationships/slideLayout"/></Relationships>
</file>

<file path=ppt/slides/_rels/slide8.xml.rels><?xml version="1.0" encoding="UTF-8" standalone="yes"?><Relationships xmlns="http://schemas.openxmlformats.org/package/2006/relationships"><Relationship Id="rId2" Target="../notesSlides/notesSlide8.xml" Type="http://schemas.openxmlformats.org/officeDocument/2006/relationships/notesSlide"/><Relationship Id="rId1" Target="../slideLayouts/slideLayout1.xml" Type="http://schemas.openxmlformats.org/officeDocument/2006/relationships/slideLayout"/></Relationships>
</file>

<file path=ppt/slides/_rels/slide9.xml.rels><?xml version="1.0" encoding="UTF-8" standalone="yes"?><Relationships xmlns="http://schemas.openxmlformats.org/package/2006/relationships"><Relationship Id="rId2" Target="../notesSlides/notesSlide9.xml" Type="http://schemas.openxmlformats.org/officeDocument/2006/relationships/notesSlide"/><Relationship Id="rId1" Target="../slideLayouts/slideLayout1.xml" Type="http://schemas.openxmlformats.org/officeDocument/2006/relationships/slideLayout"/></Relationships>
</file>

<file path=ppt/slides/_rels/slide10.xml.rels><?xml version="1.0" encoding="UTF-8" standalone="yes"?><Relationships xmlns="http://schemas.openxmlformats.org/package/2006/relationships"><Relationship Id="rId14" Target="https://arxiv.org/abs/1907.11692" TargetMode="External" Type="http://schemas.openxmlformats.org/officeDocument/2006/relationships/hyperlink"/><Relationship Id="rId13" Target="https://arxiv.org/abs/1907.11692" TargetMode="External" Type="http://schemas.openxmlformats.org/officeDocument/2006/relationships/hyperlink"/><Relationship Id="rId12" Target="https://www.edunetfoundation.org" TargetMode="External" Type="http://schemas.openxmlformats.org/officeDocument/2006/relationships/hyperlink"/><Relationship Id="rId11" Target="https://www.edunetfoundation.org" TargetMode="External" Type="http://schemas.openxmlformats.org/officeDocument/2006/relationships/hyperlink"/><Relationship Id="rId9" Target="https://www.kaggle.com/docs/notebooks" TargetMode="External" Type="http://schemas.openxmlformats.org/officeDocument/2006/relationships/hyperlink"/><Relationship Id="rId10" Target="https://www.kaggle.com/docs/notebooks" TargetMode="External" Type="http://schemas.openxmlformats.org/officeDocument/2006/relationships/hyperlink"/><Relationship Id="rId8" Target="https://huggingface.co/docs/api-inference" TargetMode="External" Type="http://schemas.openxmlformats.org/officeDocument/2006/relationships/hyperlink"/><Relationship Id="rId7" Target="https://huggingface.co/docs/api-inference" TargetMode="External" Type="http://schemas.openxmlformats.org/officeDocument/2006/relationships/hyperlink"/><Relationship Id="rId6" Target="https://huggingface.co/j-hartmann/emotion-english-distilroberta-base" TargetMode="External" Type="http://schemas.openxmlformats.org/officeDocument/2006/relationships/hyperlink"/><Relationship Id="rId5" Target="https://huggingface.co/j-hartmann/emotion-english-distilroberta-base" TargetMode="External" Type="http://schemas.openxmlformats.org/officeDocument/2006/relationships/hyperlink"/><Relationship Id="rId4" Target="https://huggingface.co/cardiffnlp/twitter-roberta-base-sentiment-latest" TargetMode="External" Type="http://schemas.openxmlformats.org/officeDocument/2006/relationships/hyperlink"/><Relationship Id="rId3" Target="https://huggingface.co/cardiffnlp/twitter-roberta-base-sentiment-latest" TargetMode="External" Type="http://schemas.openxmlformats.org/officeDocument/2006/relationships/hyperlink"/><Relationship Id="rId2" Target="../notesSlides/notesSlide10.xml" Type="http://schemas.openxmlformats.org/officeDocument/2006/relationships/notesSlide"/><Relationship Id="rId1" Target="../slideLayouts/slideLayout1.xml" Type="http://schemas.openxmlformats.org/officeDocument/2006/relationships/slideLayout"/></Relationships>
</file>

<file path=ppt/slides/_rels/slide11.xml.rels><?xml version="1.0" encoding="UTF-8" standalone="yes"?><Relationships xmlns="http://schemas.openxmlformats.org/package/2006/relationships"><Relationship Id="rId2" Target="../notesSlides/notesSlide11.xml" Type="http://schemas.openxmlformats.org/officeDocument/2006/relationships/notesSlide"/><Relationship Id="rId1" Target="../slideLayouts/slideLayout1.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sp>
        <p:nvSpPr>
          <p:cNvPr id="3" name="Shape 1"/>
          <p:cNvSpPr/>
          <p:nvPr/>
        </p:nvSpPr>
        <p:spPr>
          <a:xfrm>
            <a:off x="0" y="64008"/>
            <a:ext cx="457200" cy="5079492"/>
          </a:xfrm>
          <a:prstGeom prst="rect">
            <a:avLst/>
          </a:prstGeom>
          <a:solidFill>
            <a:srgbClr val="1565C0"/>
          </a:solidFill>
          <a:ln w="12700">
            <a:solidFill>
              <a:srgbClr val="1565C0"/>
            </a:solidFill>
            <a:prstDash val="solid"/>
          </a:ln>
        </p:spPr>
      </p:sp>
      <p:sp>
        <p:nvSpPr>
          <p:cNvPr id="4" name="Shape 2"/>
          <p:cNvSpPr/>
          <p:nvPr/>
        </p:nvSpPr>
        <p:spPr>
          <a:xfrm>
            <a:off x="3200400" y="548640"/>
            <a:ext cx="4572000" cy="4114800"/>
          </a:xfrm>
          <a:prstGeom prst="ellipse">
            <a:avLst/>
          </a:prstGeom>
          <a:solidFill>
            <a:srgbClr val="1565C0">
              <a:alpha val="12000"/>
            </a:srgbClr>
          </a:solidFill>
          <a:ln w="12700">
            <a:solidFill>
              <a:srgbClr val="1565C0">
                <a:alpha val="12000"/>
              </a:srgbClr>
            </a:solidFill>
            <a:prstDash val="solid"/>
          </a:ln>
        </p:spPr>
      </p:sp>
      <p:sp>
        <p:nvSpPr>
          <p:cNvPr id="5" name="Text 3"/>
          <p:cNvSpPr/>
          <p:nvPr/>
        </p:nvSpPr>
        <p:spPr>
          <a:xfrm>
            <a:off x="731520" y="457200"/>
            <a:ext cx="7772400" cy="457200"/>
          </a:xfrm>
          <a:prstGeom prst="rect">
            <a:avLst/>
          </a:prstGeom>
          <a:noFill/>
          <a:ln/>
        </p:spPr>
        <p:txBody>
          <a:bodyPr anchor="ctr" numCol="1" rtlCol="0" wrap="square"/>
          <a:lstStyle/>
          <a:p>
            <a:pPr algn="ctr" indent="0" marL="0">
              <a:buNone/>
            </a:pPr>
            <a:r>
              <a:rPr b="1" dirty="0" kern="0" lang="en-US" spc="400" sz="1100">
                <a:solidFill>
                  <a:srgbClr val="00B4D8"/>
                </a:solidFill>
                <a:latin charset="0" pitchFamily="34" typeface="Calibri"/>
                <a:ea charset="-122" pitchFamily="34" typeface="Calibri"/>
                <a:cs charset="-120" pitchFamily="34" typeface="Calibri"/>
              </a:rPr>
              <a:t>CAPSTONE PROJECT</a:t>
            </a:r>
            <a:endParaRPr dirty="0" lang="en-US" sz="1100"/>
          </a:p>
        </p:txBody>
      </p:sp>
      <p:sp>
        <p:nvSpPr>
          <p:cNvPr id="6" name="Text 4"/>
          <p:cNvSpPr/>
          <p:nvPr/>
        </p:nvSpPr>
        <p:spPr>
          <a:xfrm>
            <a:off x="731520" y="1005840"/>
            <a:ext cx="7772400" cy="1097280"/>
          </a:xfrm>
          <a:prstGeom prst="rect">
            <a:avLst/>
          </a:prstGeom>
          <a:noFill/>
          <a:ln/>
        </p:spPr>
        <p:txBody>
          <a:bodyPr anchor="ctr" numCol="1" rtlCol="0" wrap="square"/>
          <a:lstStyle/>
          <a:p>
            <a:pPr algn="ctr" indent="0" marL="0">
              <a:buNone/>
            </a:pPr>
            <a:r>
              <a:rPr b="1" dirty="0" lang="en-US" sz="3600">
                <a:solidFill>
                  <a:srgbClr val="FFFFFF"/>
                </a:solidFill>
                <a:latin charset="0" pitchFamily="34" typeface="Calibri"/>
                <a:ea charset="-122" pitchFamily="34" typeface="Calibri"/>
                <a:cs charset="-120" pitchFamily="34" typeface="Calibri"/>
              </a:rPr>
              <a:t>AI-Powered Sentiment Analyzer</a:t>
            </a:r>
            <a:endParaRPr dirty="0" lang="en-US" sz="3600"/>
          </a:p>
        </p:txBody>
      </p:sp>
      <p:sp>
        <p:nvSpPr>
          <p:cNvPr id="7" name="Text 5"/>
          <p:cNvSpPr/>
          <p:nvPr/>
        </p:nvSpPr>
        <p:spPr>
          <a:xfrm>
            <a:off x="731520" y="2103120"/>
            <a:ext cx="7772400" cy="502920"/>
          </a:xfrm>
          <a:prstGeom prst="rect">
            <a:avLst/>
          </a:prstGeom>
          <a:noFill/>
          <a:ln/>
        </p:spPr>
        <p:txBody>
          <a:bodyPr anchor="ctr" numCol="1" rtlCol="0" wrap="square"/>
          <a:lstStyle/>
          <a:p>
            <a:pPr algn="ctr" indent="0" marL="0">
              <a:buNone/>
            </a:pPr>
            <a:r>
              <a:rPr dirty="0" lang="en-US" sz="1600">
                <a:solidFill>
                  <a:srgbClr val="90E0EF"/>
                </a:solidFill>
                <a:latin charset="0" pitchFamily="34" typeface="Calibri"/>
                <a:ea charset="-122" pitchFamily="34" typeface="Calibri"/>
                <a:cs charset="-120" pitchFamily="34" typeface="Calibri"/>
              </a:rPr>
              <a:t>Using Hugging Face NLP API &amp; Python</a:t>
            </a:r>
            <a:endParaRPr dirty="0" lang="en-US" sz="1600"/>
          </a:p>
        </p:txBody>
      </p:sp>
      <p:sp>
        <p:nvSpPr>
          <p:cNvPr id="8" name="Shape 6"/>
          <p:cNvSpPr/>
          <p:nvPr/>
        </p:nvSpPr>
        <p:spPr>
          <a:xfrm>
            <a:off x="3200400" y="2697480"/>
            <a:ext cx="2743200" cy="36576"/>
          </a:xfrm>
          <a:prstGeom prst="rect">
            <a:avLst/>
          </a:prstGeom>
          <a:solidFill>
            <a:srgbClr val="00B4D8"/>
          </a:solidFill>
          <a:ln w="12700">
            <a:solidFill>
              <a:srgbClr val="00B4D8"/>
            </a:solidFill>
            <a:prstDash val="solid"/>
          </a:ln>
        </p:spPr>
      </p:sp>
      <p:sp>
        <p:nvSpPr>
          <p:cNvPr id="9" name="Shape 7"/>
          <p:cNvSpPr/>
          <p:nvPr/>
        </p:nvSpPr>
        <p:spPr>
          <a:xfrm>
            <a:off x="1097280" y="2926080"/>
            <a:ext cx="3383280" cy="548640"/>
          </a:xfrm>
          <a:prstGeom prst="rect">
            <a:avLst/>
          </a:prstGeom>
          <a:solidFill>
            <a:srgbClr val="112240"/>
          </a:solidFill>
          <a:ln w="12700">
            <a:solidFill>
              <a:srgbClr val="1A3A6B"/>
            </a:solidFill>
            <a:prstDash val="solid"/>
          </a:ln>
        </p:spPr>
      </p:sp>
      <p:sp>
        <p:nvSpPr>
          <p:cNvPr id="10" name="Text 8"/>
          <p:cNvSpPr/>
          <p:nvPr/>
        </p:nvSpPr>
        <p:spPr>
          <a:xfrm>
            <a:off x="1207008" y="2962656"/>
            <a:ext cx="1280160" cy="22860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Student Name:</a:t>
            </a:r>
            <a:endParaRPr dirty="0" lang="en-US" sz="900"/>
          </a:p>
        </p:txBody>
      </p:sp>
      <p:sp>
        <p:nvSpPr>
          <p:cNvPr id="11" name="Text 9"/>
          <p:cNvSpPr/>
          <p:nvPr/>
        </p:nvSpPr>
        <p:spPr>
          <a:xfrm>
            <a:off x="1207008" y="3182112"/>
            <a:ext cx="3108960" cy="228600"/>
          </a:xfrm>
          <a:prstGeom prst="rect">
            <a:avLst/>
          </a:prstGeom>
          <a:noFill/>
          <a:ln/>
        </p:spPr>
        <p:txBody>
          <a:bodyPr anchor="ctr" bIns="0" lIns="0" numCol="1" rIns="0" rtlCol="0" tIns="0" wrap="square"/>
          <a:lstStyle/>
          <a:p>
            <a:pPr indent="0" marL="0">
              <a:buNone/>
            </a:pPr>
            <a:r>
              <a:rPr sz="1100">
                <a:solidFill>
                  <a:srgbClr val="EFEFEF"/>
                </a:solidFill>
              </a:rPr>
              <a:t>G.YAGNASRI</a:t>
            </a:r>
            <a:endParaRPr dirty="0" lang="en-US" sz="1100"/>
          </a:p>
        </p:txBody>
      </p:sp>
      <p:sp>
        <p:nvSpPr>
          <p:cNvPr id="12" name="Shape 10"/>
          <p:cNvSpPr/>
          <p:nvPr/>
        </p:nvSpPr>
        <p:spPr>
          <a:xfrm>
            <a:off x="4937760" y="2926080"/>
            <a:ext cx="3383280" cy="548640"/>
          </a:xfrm>
          <a:prstGeom prst="rect">
            <a:avLst/>
          </a:prstGeom>
          <a:solidFill>
            <a:srgbClr val="112240"/>
          </a:solidFill>
          <a:ln w="12700">
            <a:solidFill>
              <a:srgbClr val="1A3A6B"/>
            </a:solidFill>
            <a:prstDash val="solid"/>
          </a:ln>
        </p:spPr>
      </p:sp>
      <p:sp>
        <p:nvSpPr>
          <p:cNvPr id="13" name="Text 11"/>
          <p:cNvSpPr/>
          <p:nvPr/>
        </p:nvSpPr>
        <p:spPr>
          <a:xfrm>
            <a:off x="5047488" y="2962656"/>
            <a:ext cx="1280160" cy="22860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College Name:</a:t>
            </a:r>
            <a:endParaRPr dirty="0" lang="en-US" sz="900"/>
          </a:p>
        </p:txBody>
      </p:sp>
      <p:sp>
        <p:nvSpPr>
          <p:cNvPr id="14" name="Text 12"/>
          <p:cNvSpPr/>
          <p:nvPr/>
        </p:nvSpPr>
        <p:spPr>
          <a:xfrm>
            <a:off x="5047488" y="3182112"/>
            <a:ext cx="3108960" cy="228600"/>
          </a:xfrm>
          <a:prstGeom prst="rect">
            <a:avLst/>
          </a:prstGeom>
          <a:noFill/>
          <a:ln/>
        </p:spPr>
        <p:txBody>
          <a:bodyPr anchor="ctr" bIns="0" lIns="0" numCol="1" rIns="0" rtlCol="0" tIns="0" wrap="square"/>
          <a:lstStyle/>
          <a:p>
            <a:pPr indent="0" marL="0">
              <a:buNone/>
            </a:pPr>
            <a:r>
              <a:rPr dirty="0" lang="en-US" sz="1100">
                <a:solidFill>
                  <a:srgbClr val="FFFFFF"/>
                </a:solidFill>
                <a:latin charset="0" pitchFamily="34" typeface="Calibri"/>
                <a:ea charset="-122" pitchFamily="34" typeface="Calibri"/>
                <a:cs charset="-120" pitchFamily="34" typeface="Calibri"/>
              </a:rPr>
              <a:t>RISHI MS INSTITUTE OF ENGINEERING AND TECHNOLOGY FOR WOMEN</a:t>
            </a:r>
            <a:endParaRPr dirty="0" lang="en-US" sz="1100"/>
          </a:p>
        </p:txBody>
      </p:sp>
      <p:sp>
        <p:nvSpPr>
          <p:cNvPr id="15" name="Shape 13"/>
          <p:cNvSpPr/>
          <p:nvPr/>
        </p:nvSpPr>
        <p:spPr>
          <a:xfrm>
            <a:off x="1097280" y="3584448"/>
            <a:ext cx="3383280" cy="548640"/>
          </a:xfrm>
          <a:prstGeom prst="rect">
            <a:avLst/>
          </a:prstGeom>
          <a:solidFill>
            <a:srgbClr val="112240"/>
          </a:solidFill>
          <a:ln w="12700">
            <a:solidFill>
              <a:srgbClr val="1A3A6B"/>
            </a:solidFill>
            <a:prstDash val="solid"/>
          </a:ln>
        </p:spPr>
      </p:sp>
      <p:sp>
        <p:nvSpPr>
          <p:cNvPr id="16" name="Text 14"/>
          <p:cNvSpPr/>
          <p:nvPr/>
        </p:nvSpPr>
        <p:spPr>
          <a:xfrm>
            <a:off x="1207008" y="3621024"/>
            <a:ext cx="1280160" cy="22860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Department:</a:t>
            </a:r>
            <a:endParaRPr dirty="0" lang="en-US" sz="900"/>
          </a:p>
        </p:txBody>
      </p:sp>
      <p:sp>
        <p:nvSpPr>
          <p:cNvPr id="17" name="Text 15"/>
          <p:cNvSpPr/>
          <p:nvPr/>
        </p:nvSpPr>
        <p:spPr>
          <a:xfrm>
            <a:off x="1207008" y="3840480"/>
            <a:ext cx="3108960" cy="228600"/>
          </a:xfrm>
          <a:prstGeom prst="rect">
            <a:avLst/>
          </a:prstGeom>
          <a:noFill/>
          <a:ln/>
        </p:spPr>
        <p:txBody>
          <a:bodyPr anchor="ctr" bIns="0" lIns="0" numCol="1" rIns="0" rtlCol="0" tIns="0" wrap="square"/>
          <a:lstStyle/>
          <a:p>
            <a:pPr indent="0" marL="0">
              <a:buNone/>
            </a:pPr>
            <a:r>
              <a:rPr dirty="0" lang="en-US" sz="1100">
                <a:solidFill>
                  <a:srgbClr val="FFFFFF"/>
                </a:solidFill>
                <a:latin charset="0" pitchFamily="34" typeface="Calibri"/>
                <a:ea charset="-122" pitchFamily="34" typeface="Calibri"/>
                <a:cs charset="-120" pitchFamily="34" typeface="Calibri"/>
              </a:rPr>
              <a:t>CSE</a:t>
            </a:r>
            <a:endParaRPr dirty="0" lang="en-US" sz="1100"/>
          </a:p>
        </p:txBody>
      </p:sp>
      <p:sp>
        <p:nvSpPr>
          <p:cNvPr id="18" name="Shape 16"/>
          <p:cNvSpPr/>
          <p:nvPr/>
        </p:nvSpPr>
        <p:spPr>
          <a:xfrm>
            <a:off x="4937760" y="3584448"/>
            <a:ext cx="3383280" cy="548640"/>
          </a:xfrm>
          <a:prstGeom prst="rect">
            <a:avLst/>
          </a:prstGeom>
          <a:solidFill>
            <a:srgbClr val="112240"/>
          </a:solidFill>
          <a:ln w="12700">
            <a:solidFill>
              <a:srgbClr val="1A3A6B"/>
            </a:solidFill>
            <a:prstDash val="solid"/>
          </a:ln>
        </p:spPr>
      </p:sp>
      <p:sp>
        <p:nvSpPr>
          <p:cNvPr id="19" name="Text 17"/>
          <p:cNvSpPr/>
          <p:nvPr/>
        </p:nvSpPr>
        <p:spPr>
          <a:xfrm>
            <a:off x="5047488" y="3621024"/>
            <a:ext cx="1280160" cy="22860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Email ID:</a:t>
            </a:r>
            <a:endParaRPr dirty="0" lang="en-US" sz="900"/>
          </a:p>
        </p:txBody>
      </p:sp>
      <p:sp>
        <p:nvSpPr>
          <p:cNvPr id="20" name="Text 18"/>
          <p:cNvSpPr/>
          <p:nvPr/>
        </p:nvSpPr>
        <p:spPr>
          <a:xfrm>
            <a:off x="5047488" y="3840480"/>
            <a:ext cx="3108960" cy="228600"/>
          </a:xfrm>
          <a:prstGeom prst="rect">
            <a:avLst/>
          </a:prstGeom>
          <a:noFill/>
          <a:ln/>
        </p:spPr>
        <p:txBody>
          <a:bodyPr anchor="ctr" bIns="0" lIns="0" numCol="1" rIns="0" rtlCol="0" tIns="0" wrap="square"/>
          <a:lstStyle/>
          <a:p>
            <a:pPr indent="0" marL="0">
              <a:buNone/>
            </a:pPr>
            <a:r>
              <a:rPr dirty="0" lang="en-US" sz="1100">
                <a:solidFill>
                  <a:srgbClr val="FFFFFF"/>
                </a:solidFill>
                <a:latin charset="0" pitchFamily="34" typeface="Calibri"/>
                <a:ea charset="-122" pitchFamily="34" typeface="Calibri"/>
                <a:cs charset="-120" pitchFamily="34" typeface="Calibri"/>
              </a:rPr>
              <a:t>yagnashri06@gmail.com</a:t>
            </a:r>
            <a:endParaRPr dirty="0" lang="en-US" sz="1100"/>
          </a:p>
        </p:txBody>
      </p:sp>
      <p:sp>
        <p:nvSpPr>
          <p:cNvPr id="21" name="Shape 19"/>
          <p:cNvSpPr/>
          <p:nvPr/>
        </p:nvSpPr>
        <p:spPr>
          <a:xfrm>
            <a:off x="0" y="4873752"/>
            <a:ext cx="9144000" cy="269748"/>
          </a:xfrm>
          <a:prstGeom prst="rect">
            <a:avLst/>
          </a:prstGeom>
          <a:solidFill>
            <a:srgbClr val="0D3B6E"/>
          </a:solidFill>
          <a:ln w="12700">
            <a:solidFill>
              <a:srgbClr val="0D3B6E"/>
            </a:solidFill>
            <a:prstDash val="solid"/>
          </a:ln>
        </p:spPr>
      </p:sp>
      <p:sp>
        <p:nvSpPr>
          <p:cNvPr id="22" name="Text 20"/>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OUTLINE</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228600" y="1005840"/>
            <a:ext cx="429768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9" name="Shape 7"/>
          <p:cNvSpPr/>
          <p:nvPr/>
        </p:nvSpPr>
        <p:spPr>
          <a:xfrm>
            <a:off x="228600" y="1005840"/>
            <a:ext cx="502920" cy="1115568"/>
          </a:xfrm>
          <a:prstGeom prst="rect">
            <a:avLst/>
          </a:prstGeom>
          <a:solidFill>
            <a:srgbClr val="1565C0"/>
          </a:solidFill>
          <a:ln w="12700">
            <a:solidFill>
              <a:srgbClr val="1565C0"/>
            </a:solidFill>
            <a:prstDash val="solid"/>
          </a:ln>
        </p:spPr>
      </p:sp>
      <p:sp>
        <p:nvSpPr>
          <p:cNvPr id="10" name="Text 8"/>
          <p:cNvSpPr/>
          <p:nvPr/>
        </p:nvSpPr>
        <p:spPr>
          <a:xfrm>
            <a:off x="228600" y="1005840"/>
            <a:ext cx="502920" cy="1115568"/>
          </a:xfrm>
          <a:prstGeom prst="rect">
            <a:avLst/>
          </a:prstGeom>
          <a:noFill/>
          <a:ln/>
        </p:spPr>
        <p:txBody>
          <a:bodyPr anchor="ctr" bIns="0" lIns="0" numCol="1" rIns="0" rtlCol="0" tIns="0" wrap="square"/>
          <a:lstStyle/>
          <a:p>
            <a:pPr algn="ctr" indent="0" marL="0">
              <a:buNone/>
            </a:pPr>
            <a:r>
              <a:rPr b="1" dirty="0" lang="en-US" sz="1800">
                <a:solidFill>
                  <a:srgbClr val="00B4D8"/>
                </a:solidFill>
                <a:latin charset="0" pitchFamily="34" typeface="Calibri"/>
                <a:ea charset="-122" pitchFamily="34" typeface="Calibri"/>
                <a:cs charset="-120" pitchFamily="34" typeface="Calibri"/>
              </a:rPr>
              <a:t>01</a:t>
            </a:r>
            <a:endParaRPr dirty="0" lang="en-US" sz="1800"/>
          </a:p>
        </p:txBody>
      </p:sp>
      <p:sp>
        <p:nvSpPr>
          <p:cNvPr id="11" name="Text 9"/>
          <p:cNvSpPr/>
          <p:nvPr/>
        </p:nvSpPr>
        <p:spPr>
          <a:xfrm>
            <a:off x="822960" y="1115568"/>
            <a:ext cx="356616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Problem Statement</a:t>
            </a:r>
            <a:endParaRPr dirty="0" lang="en-US" sz="1300"/>
          </a:p>
        </p:txBody>
      </p:sp>
      <p:sp>
        <p:nvSpPr>
          <p:cNvPr id="12" name="Text 10"/>
          <p:cNvSpPr/>
          <p:nvPr/>
        </p:nvSpPr>
        <p:spPr>
          <a:xfrm>
            <a:off x="822960" y="1499616"/>
            <a:ext cx="3566160" cy="47548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Challenges in manual text sentiment analysis</a:t>
            </a:r>
            <a:endParaRPr dirty="0" lang="en-US" sz="1000"/>
          </a:p>
        </p:txBody>
      </p:sp>
      <p:sp>
        <p:nvSpPr>
          <p:cNvPr id="13" name="Shape 11"/>
          <p:cNvSpPr/>
          <p:nvPr/>
        </p:nvSpPr>
        <p:spPr>
          <a:xfrm>
            <a:off x="4800600" y="1005840"/>
            <a:ext cx="429768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4" name="Shape 12"/>
          <p:cNvSpPr/>
          <p:nvPr/>
        </p:nvSpPr>
        <p:spPr>
          <a:xfrm>
            <a:off x="4800600" y="1005840"/>
            <a:ext cx="502920" cy="1115568"/>
          </a:xfrm>
          <a:prstGeom prst="rect">
            <a:avLst/>
          </a:prstGeom>
          <a:solidFill>
            <a:srgbClr val="1565C0"/>
          </a:solidFill>
          <a:ln w="12700">
            <a:solidFill>
              <a:srgbClr val="1565C0"/>
            </a:solidFill>
            <a:prstDash val="solid"/>
          </a:ln>
        </p:spPr>
      </p:sp>
      <p:sp>
        <p:nvSpPr>
          <p:cNvPr id="15" name="Text 13"/>
          <p:cNvSpPr/>
          <p:nvPr/>
        </p:nvSpPr>
        <p:spPr>
          <a:xfrm>
            <a:off x="4800600" y="1005840"/>
            <a:ext cx="502920" cy="1115568"/>
          </a:xfrm>
          <a:prstGeom prst="rect">
            <a:avLst/>
          </a:prstGeom>
          <a:noFill/>
          <a:ln/>
        </p:spPr>
        <p:txBody>
          <a:bodyPr anchor="ctr" bIns="0" lIns="0" numCol="1" rIns="0" rtlCol="0" tIns="0" wrap="square"/>
          <a:lstStyle/>
          <a:p>
            <a:pPr algn="ctr" indent="0" marL="0">
              <a:buNone/>
            </a:pPr>
            <a:r>
              <a:rPr b="1" dirty="0" lang="en-US" sz="1800">
                <a:solidFill>
                  <a:srgbClr val="00B4D8"/>
                </a:solidFill>
                <a:latin charset="0" pitchFamily="34" typeface="Calibri"/>
                <a:ea charset="-122" pitchFamily="34" typeface="Calibri"/>
                <a:cs charset="-120" pitchFamily="34" typeface="Calibri"/>
              </a:rPr>
              <a:t>02</a:t>
            </a:r>
            <a:endParaRPr dirty="0" lang="en-US" sz="1800"/>
          </a:p>
        </p:txBody>
      </p:sp>
      <p:sp>
        <p:nvSpPr>
          <p:cNvPr id="16" name="Text 14"/>
          <p:cNvSpPr/>
          <p:nvPr/>
        </p:nvSpPr>
        <p:spPr>
          <a:xfrm>
            <a:off x="5394960" y="1115568"/>
            <a:ext cx="356616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Proposed Solution</a:t>
            </a:r>
            <a:endParaRPr dirty="0" lang="en-US" sz="1300"/>
          </a:p>
        </p:txBody>
      </p:sp>
      <p:sp>
        <p:nvSpPr>
          <p:cNvPr id="17" name="Text 15"/>
          <p:cNvSpPr/>
          <p:nvPr/>
        </p:nvSpPr>
        <p:spPr>
          <a:xfrm>
            <a:off x="5394960" y="1499616"/>
            <a:ext cx="3566160" cy="47548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AI-powered sentiment analyzer using NLP</a:t>
            </a:r>
            <a:endParaRPr dirty="0" lang="en-US" sz="1000"/>
          </a:p>
        </p:txBody>
      </p:sp>
      <p:sp>
        <p:nvSpPr>
          <p:cNvPr id="18" name="Shape 16"/>
          <p:cNvSpPr/>
          <p:nvPr/>
        </p:nvSpPr>
        <p:spPr>
          <a:xfrm>
            <a:off x="228600" y="2267712"/>
            <a:ext cx="429768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9" name="Shape 17"/>
          <p:cNvSpPr/>
          <p:nvPr/>
        </p:nvSpPr>
        <p:spPr>
          <a:xfrm>
            <a:off x="228600" y="2267712"/>
            <a:ext cx="502920" cy="1115568"/>
          </a:xfrm>
          <a:prstGeom prst="rect">
            <a:avLst/>
          </a:prstGeom>
          <a:solidFill>
            <a:srgbClr val="1565C0"/>
          </a:solidFill>
          <a:ln w="12700">
            <a:solidFill>
              <a:srgbClr val="1565C0"/>
            </a:solidFill>
            <a:prstDash val="solid"/>
          </a:ln>
        </p:spPr>
      </p:sp>
      <p:sp>
        <p:nvSpPr>
          <p:cNvPr id="20" name="Text 18"/>
          <p:cNvSpPr/>
          <p:nvPr/>
        </p:nvSpPr>
        <p:spPr>
          <a:xfrm>
            <a:off x="228600" y="2267712"/>
            <a:ext cx="502920" cy="1115568"/>
          </a:xfrm>
          <a:prstGeom prst="rect">
            <a:avLst/>
          </a:prstGeom>
          <a:noFill/>
          <a:ln/>
        </p:spPr>
        <p:txBody>
          <a:bodyPr anchor="ctr" bIns="0" lIns="0" numCol="1" rIns="0" rtlCol="0" tIns="0" wrap="square"/>
          <a:lstStyle/>
          <a:p>
            <a:pPr algn="ctr" indent="0" marL="0">
              <a:buNone/>
            </a:pPr>
            <a:r>
              <a:rPr b="1" dirty="0" lang="en-US" sz="1800">
                <a:solidFill>
                  <a:srgbClr val="00B4D8"/>
                </a:solidFill>
                <a:latin charset="0" pitchFamily="34" typeface="Calibri"/>
                <a:ea charset="-122" pitchFamily="34" typeface="Calibri"/>
                <a:cs charset="-120" pitchFamily="34" typeface="Calibri"/>
              </a:rPr>
              <a:t>03</a:t>
            </a:r>
            <a:endParaRPr dirty="0" lang="en-US" sz="1800"/>
          </a:p>
        </p:txBody>
      </p:sp>
      <p:sp>
        <p:nvSpPr>
          <p:cNvPr id="21" name="Text 19"/>
          <p:cNvSpPr/>
          <p:nvPr/>
        </p:nvSpPr>
        <p:spPr>
          <a:xfrm>
            <a:off x="822960" y="2377440"/>
            <a:ext cx="356616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System Development</a:t>
            </a:r>
            <a:endParaRPr dirty="0" lang="en-US" sz="1300"/>
          </a:p>
        </p:txBody>
      </p:sp>
      <p:sp>
        <p:nvSpPr>
          <p:cNvPr id="22" name="Text 20"/>
          <p:cNvSpPr/>
          <p:nvPr/>
        </p:nvSpPr>
        <p:spPr>
          <a:xfrm>
            <a:off x="822960" y="2761488"/>
            <a:ext cx="3566160" cy="47548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Tools, libraries &amp; technology stack used</a:t>
            </a:r>
            <a:endParaRPr dirty="0" lang="en-US" sz="1000"/>
          </a:p>
        </p:txBody>
      </p:sp>
      <p:sp>
        <p:nvSpPr>
          <p:cNvPr id="23" name="Shape 21"/>
          <p:cNvSpPr/>
          <p:nvPr/>
        </p:nvSpPr>
        <p:spPr>
          <a:xfrm>
            <a:off x="4800600" y="2267712"/>
            <a:ext cx="429768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4" name="Shape 22"/>
          <p:cNvSpPr/>
          <p:nvPr/>
        </p:nvSpPr>
        <p:spPr>
          <a:xfrm>
            <a:off x="4800600" y="2267712"/>
            <a:ext cx="502920" cy="1115568"/>
          </a:xfrm>
          <a:prstGeom prst="rect">
            <a:avLst/>
          </a:prstGeom>
          <a:solidFill>
            <a:srgbClr val="1565C0"/>
          </a:solidFill>
          <a:ln w="12700">
            <a:solidFill>
              <a:srgbClr val="1565C0"/>
            </a:solidFill>
            <a:prstDash val="solid"/>
          </a:ln>
        </p:spPr>
      </p:sp>
      <p:sp>
        <p:nvSpPr>
          <p:cNvPr id="25" name="Text 23"/>
          <p:cNvSpPr/>
          <p:nvPr/>
        </p:nvSpPr>
        <p:spPr>
          <a:xfrm>
            <a:off x="4800600" y="2267712"/>
            <a:ext cx="502920" cy="1115568"/>
          </a:xfrm>
          <a:prstGeom prst="rect">
            <a:avLst/>
          </a:prstGeom>
          <a:noFill/>
          <a:ln/>
        </p:spPr>
        <p:txBody>
          <a:bodyPr anchor="ctr" bIns="0" lIns="0" numCol="1" rIns="0" rtlCol="0" tIns="0" wrap="square"/>
          <a:lstStyle/>
          <a:p>
            <a:pPr algn="ctr" indent="0" marL="0">
              <a:buNone/>
            </a:pPr>
            <a:r>
              <a:rPr b="1" dirty="0" lang="en-US" sz="1800">
                <a:solidFill>
                  <a:srgbClr val="00B4D8"/>
                </a:solidFill>
                <a:latin charset="0" pitchFamily="34" typeface="Calibri"/>
                <a:ea charset="-122" pitchFamily="34" typeface="Calibri"/>
                <a:cs charset="-120" pitchFamily="34" typeface="Calibri"/>
              </a:rPr>
              <a:t>04</a:t>
            </a:r>
            <a:endParaRPr dirty="0" lang="en-US" sz="1800"/>
          </a:p>
        </p:txBody>
      </p:sp>
      <p:sp>
        <p:nvSpPr>
          <p:cNvPr id="26" name="Text 24"/>
          <p:cNvSpPr/>
          <p:nvPr/>
        </p:nvSpPr>
        <p:spPr>
          <a:xfrm>
            <a:off x="5394960" y="2377440"/>
            <a:ext cx="356616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Algorithm &amp; Deployment</a:t>
            </a:r>
            <a:endParaRPr dirty="0" lang="en-US" sz="1300"/>
          </a:p>
        </p:txBody>
      </p:sp>
      <p:sp>
        <p:nvSpPr>
          <p:cNvPr id="27" name="Text 25"/>
          <p:cNvSpPr/>
          <p:nvPr/>
        </p:nvSpPr>
        <p:spPr>
          <a:xfrm>
            <a:off x="5394960" y="2761488"/>
            <a:ext cx="3566160" cy="47548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Model pipeline and API integration</a:t>
            </a:r>
            <a:endParaRPr dirty="0" lang="en-US" sz="1000"/>
          </a:p>
        </p:txBody>
      </p:sp>
      <p:sp>
        <p:nvSpPr>
          <p:cNvPr id="28" name="Shape 26"/>
          <p:cNvSpPr/>
          <p:nvPr/>
        </p:nvSpPr>
        <p:spPr>
          <a:xfrm>
            <a:off x="228600" y="3529584"/>
            <a:ext cx="429768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9" name="Shape 27"/>
          <p:cNvSpPr/>
          <p:nvPr/>
        </p:nvSpPr>
        <p:spPr>
          <a:xfrm>
            <a:off x="228600" y="3529584"/>
            <a:ext cx="502920" cy="1115568"/>
          </a:xfrm>
          <a:prstGeom prst="rect">
            <a:avLst/>
          </a:prstGeom>
          <a:solidFill>
            <a:srgbClr val="1565C0"/>
          </a:solidFill>
          <a:ln w="12700">
            <a:solidFill>
              <a:srgbClr val="1565C0"/>
            </a:solidFill>
            <a:prstDash val="solid"/>
          </a:ln>
        </p:spPr>
      </p:sp>
      <p:sp>
        <p:nvSpPr>
          <p:cNvPr id="30" name="Text 28"/>
          <p:cNvSpPr/>
          <p:nvPr/>
        </p:nvSpPr>
        <p:spPr>
          <a:xfrm>
            <a:off x="228600" y="3529584"/>
            <a:ext cx="502920" cy="1115568"/>
          </a:xfrm>
          <a:prstGeom prst="rect">
            <a:avLst/>
          </a:prstGeom>
          <a:noFill/>
          <a:ln/>
        </p:spPr>
        <p:txBody>
          <a:bodyPr anchor="ctr" bIns="0" lIns="0" numCol="1" rIns="0" rtlCol="0" tIns="0" wrap="square"/>
          <a:lstStyle/>
          <a:p>
            <a:pPr algn="ctr" indent="0" marL="0">
              <a:buNone/>
            </a:pPr>
            <a:r>
              <a:rPr b="1" dirty="0" lang="en-US" sz="1800">
                <a:solidFill>
                  <a:srgbClr val="00B4D8"/>
                </a:solidFill>
                <a:latin charset="0" pitchFamily="34" typeface="Calibri"/>
                <a:ea charset="-122" pitchFamily="34" typeface="Calibri"/>
                <a:cs charset="-120" pitchFamily="34" typeface="Calibri"/>
              </a:rPr>
              <a:t>05</a:t>
            </a:r>
            <a:endParaRPr dirty="0" lang="en-US" sz="1800"/>
          </a:p>
        </p:txBody>
      </p:sp>
      <p:sp>
        <p:nvSpPr>
          <p:cNvPr id="31" name="Text 29"/>
          <p:cNvSpPr/>
          <p:nvPr/>
        </p:nvSpPr>
        <p:spPr>
          <a:xfrm>
            <a:off x="822960" y="3639312"/>
            <a:ext cx="356616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Results</a:t>
            </a:r>
            <a:endParaRPr dirty="0" lang="en-US" sz="1300"/>
          </a:p>
        </p:txBody>
      </p:sp>
      <p:sp>
        <p:nvSpPr>
          <p:cNvPr id="32" name="Text 30"/>
          <p:cNvSpPr/>
          <p:nvPr/>
        </p:nvSpPr>
        <p:spPr>
          <a:xfrm>
            <a:off x="822960" y="4023360"/>
            <a:ext cx="3566160" cy="47548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Sample outputs and analysis screenshots</a:t>
            </a:r>
            <a:endParaRPr dirty="0" lang="en-US" sz="1000"/>
          </a:p>
        </p:txBody>
      </p:sp>
      <p:sp>
        <p:nvSpPr>
          <p:cNvPr id="33" name="Shape 31"/>
          <p:cNvSpPr/>
          <p:nvPr/>
        </p:nvSpPr>
        <p:spPr>
          <a:xfrm>
            <a:off x="4800600" y="3529584"/>
            <a:ext cx="429768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34" name="Shape 32"/>
          <p:cNvSpPr/>
          <p:nvPr/>
        </p:nvSpPr>
        <p:spPr>
          <a:xfrm>
            <a:off x="4800600" y="3529584"/>
            <a:ext cx="502920" cy="1115568"/>
          </a:xfrm>
          <a:prstGeom prst="rect">
            <a:avLst/>
          </a:prstGeom>
          <a:solidFill>
            <a:srgbClr val="1565C0"/>
          </a:solidFill>
          <a:ln w="12700">
            <a:solidFill>
              <a:srgbClr val="1565C0"/>
            </a:solidFill>
            <a:prstDash val="solid"/>
          </a:ln>
        </p:spPr>
      </p:sp>
      <p:sp>
        <p:nvSpPr>
          <p:cNvPr id="35" name="Text 33"/>
          <p:cNvSpPr/>
          <p:nvPr/>
        </p:nvSpPr>
        <p:spPr>
          <a:xfrm>
            <a:off x="4800600" y="3529584"/>
            <a:ext cx="502920" cy="1115568"/>
          </a:xfrm>
          <a:prstGeom prst="rect">
            <a:avLst/>
          </a:prstGeom>
          <a:noFill/>
          <a:ln/>
        </p:spPr>
        <p:txBody>
          <a:bodyPr anchor="ctr" bIns="0" lIns="0" numCol="1" rIns="0" rtlCol="0" tIns="0" wrap="square"/>
          <a:lstStyle/>
          <a:p>
            <a:pPr algn="ctr" indent="0" marL="0">
              <a:buNone/>
            </a:pPr>
            <a:r>
              <a:rPr b="1" dirty="0" lang="en-US" sz="1800">
                <a:solidFill>
                  <a:srgbClr val="00B4D8"/>
                </a:solidFill>
                <a:latin charset="0" pitchFamily="34" typeface="Calibri"/>
                <a:ea charset="-122" pitchFamily="34" typeface="Calibri"/>
                <a:cs charset="-120" pitchFamily="34" typeface="Calibri"/>
              </a:rPr>
              <a:t>06</a:t>
            </a:r>
            <a:endParaRPr dirty="0" lang="en-US" sz="1800"/>
          </a:p>
        </p:txBody>
      </p:sp>
      <p:sp>
        <p:nvSpPr>
          <p:cNvPr id="36" name="Text 34"/>
          <p:cNvSpPr/>
          <p:nvPr/>
        </p:nvSpPr>
        <p:spPr>
          <a:xfrm>
            <a:off x="5394960" y="3639312"/>
            <a:ext cx="356616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Conclusion &amp; Future</a:t>
            </a:r>
            <a:endParaRPr dirty="0" lang="en-US" sz="1300"/>
          </a:p>
        </p:txBody>
      </p:sp>
      <p:sp>
        <p:nvSpPr>
          <p:cNvPr id="37" name="Text 35"/>
          <p:cNvSpPr/>
          <p:nvPr/>
        </p:nvSpPr>
        <p:spPr>
          <a:xfrm>
            <a:off x="5394960" y="4023360"/>
            <a:ext cx="3566160" cy="47548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Findings, improvements &amp; next steps</a:t>
            </a:r>
            <a:endParaRPr dirty="0"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Problem Statement</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228600" y="960120"/>
            <a:ext cx="8686800" cy="1371600"/>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9" name="Shape 7"/>
          <p:cNvSpPr/>
          <p:nvPr/>
        </p:nvSpPr>
        <p:spPr>
          <a:xfrm>
            <a:off x="228600" y="960120"/>
            <a:ext cx="64008" cy="1371600"/>
          </a:xfrm>
          <a:prstGeom prst="rect">
            <a:avLst/>
          </a:prstGeom>
          <a:solidFill>
            <a:srgbClr val="00B4D8"/>
          </a:solidFill>
          <a:ln w="12700">
            <a:solidFill>
              <a:srgbClr val="00B4D8"/>
            </a:solidFill>
            <a:prstDash val="solid"/>
          </a:ln>
        </p:spPr>
      </p:sp>
      <p:sp>
        <p:nvSpPr>
          <p:cNvPr id="10" name="Text 8"/>
          <p:cNvSpPr/>
          <p:nvPr/>
        </p:nvSpPr>
        <p:spPr>
          <a:xfrm>
            <a:off x="411480" y="1005840"/>
            <a:ext cx="8321040" cy="1280160"/>
          </a:xfrm>
          <a:prstGeom prst="rect">
            <a:avLst/>
          </a:prstGeom>
          <a:noFill/>
          <a:ln/>
        </p:spPr>
        <p:txBody>
          <a:bodyPr anchor="ctr" bIns="0" lIns="0" numCol="1" rIns="0" rtlCol="0" tIns="0" wrap="square"/>
          <a:lstStyle/>
          <a:p>
            <a:pPr indent="0" marL="0">
              <a:buNone/>
            </a:pPr>
            <a:r>
              <a:rPr dirty="0" lang="en-US" sz="1200">
                <a:solidFill>
                  <a:srgbClr val="90E0EF"/>
                </a:solidFill>
                <a:latin charset="0" pitchFamily="34" typeface="Calibri"/>
                <a:ea charset="-122" pitchFamily="34" typeface="Calibri"/>
                <a:cs charset="-120" pitchFamily="34" typeface="Calibri"/>
              </a:rPr>
              <a:t>In today's digital age, vast amounts of text data are generated every second across social media, product reviews, and feedback platforms. Manually analyzing this data to determine user sentiment is time-consuming, error-prone, and not scalable for large volumes of data.</a:t>
            </a:r>
            <a:endParaRPr dirty="0" lang="en-US" sz="1200"/>
          </a:p>
        </p:txBody>
      </p:sp>
      <p:sp>
        <p:nvSpPr>
          <p:cNvPr id="11" name="Shape 9"/>
          <p:cNvSpPr/>
          <p:nvPr/>
        </p:nvSpPr>
        <p:spPr>
          <a:xfrm>
            <a:off x="228600" y="2514600"/>
            <a:ext cx="2743200" cy="2148840"/>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2" name="Text 10"/>
          <p:cNvSpPr/>
          <p:nvPr/>
        </p:nvSpPr>
        <p:spPr>
          <a:xfrm>
            <a:off x="228600" y="2578608"/>
            <a:ext cx="2743200" cy="502920"/>
          </a:xfrm>
          <a:prstGeom prst="rect">
            <a:avLst/>
          </a:prstGeom>
          <a:noFill/>
          <a:ln/>
        </p:spPr>
        <p:txBody>
          <a:bodyPr anchor="ctr" bIns="0" lIns="0" numCol="1" rIns="0" rtlCol="0" tIns="0" wrap="square"/>
          <a:lstStyle/>
          <a:p>
            <a:pPr algn="ctr" indent="0" marL="0">
              <a:buNone/>
            </a:pPr>
            <a:r>
              <a:rPr dirty="0" lang="en-US" sz="2200">
                <a:solidFill>
                  <a:srgbClr val="00B4D8"/>
                </a:solidFill>
              </a:rPr>
              <a:t>⏱</a:t>
            </a:r>
            <a:endParaRPr dirty="0" lang="en-US" sz="2200"/>
          </a:p>
        </p:txBody>
      </p:sp>
      <p:sp>
        <p:nvSpPr>
          <p:cNvPr id="13" name="Text 11"/>
          <p:cNvSpPr/>
          <p:nvPr/>
        </p:nvSpPr>
        <p:spPr>
          <a:xfrm>
            <a:off x="365760" y="3108960"/>
            <a:ext cx="2468880" cy="347472"/>
          </a:xfrm>
          <a:prstGeom prst="rect">
            <a:avLst/>
          </a:prstGeom>
          <a:noFill/>
          <a:ln/>
        </p:spPr>
        <p:txBody>
          <a:bodyPr anchor="ctr" bIns="0" lIns="0" numCol="1" rIns="0" rtlCol="0" tIns="0" wrap="square"/>
          <a:lstStyle/>
          <a:p>
            <a:pPr algn="ctr" indent="0" marL="0">
              <a:buNone/>
            </a:pPr>
            <a:r>
              <a:rPr b="1" dirty="0" lang="en-US" sz="1300">
                <a:solidFill>
                  <a:srgbClr val="FFFFFF"/>
                </a:solidFill>
                <a:latin charset="0" pitchFamily="34" typeface="Calibri"/>
                <a:ea charset="-122" pitchFamily="34" typeface="Calibri"/>
                <a:cs charset="-120" pitchFamily="34" typeface="Calibri"/>
              </a:rPr>
              <a:t>Time Consuming</a:t>
            </a:r>
            <a:endParaRPr dirty="0" lang="en-US" sz="1300"/>
          </a:p>
        </p:txBody>
      </p:sp>
      <p:sp>
        <p:nvSpPr>
          <p:cNvPr id="14" name="Text 12"/>
          <p:cNvSpPr/>
          <p:nvPr/>
        </p:nvSpPr>
        <p:spPr>
          <a:xfrm>
            <a:off x="365760" y="3493008"/>
            <a:ext cx="2468880" cy="1005840"/>
          </a:xfrm>
          <a:prstGeom prst="rect">
            <a:avLst/>
          </a:prstGeom>
          <a:noFill/>
          <a:ln/>
        </p:spPr>
        <p:txBody>
          <a:bodyPr anchor="ctr" bIns="0" lIns="0" numCol="1" rIns="0" rtlCol="0" tIns="0" wrap="square"/>
          <a:lstStyle/>
          <a:p>
            <a:pPr algn="ctr" indent="0" marL="0">
              <a:buNone/>
            </a:pPr>
            <a:r>
              <a:rPr dirty="0" lang="en-US" sz="1000">
                <a:solidFill>
                  <a:srgbClr val="8EAAD4"/>
                </a:solidFill>
                <a:latin charset="0" pitchFamily="34" typeface="Calibri"/>
                <a:ea charset="-122" pitchFamily="34" typeface="Calibri"/>
                <a:cs charset="-120" pitchFamily="34" typeface="Calibri"/>
              </a:rPr>
              <a:t>Manual review of thousands of text records daily is not feasible for any organization.</a:t>
            </a:r>
            <a:endParaRPr dirty="0" lang="en-US" sz="1000"/>
          </a:p>
        </p:txBody>
      </p:sp>
      <p:sp>
        <p:nvSpPr>
          <p:cNvPr id="15" name="Shape 13"/>
          <p:cNvSpPr/>
          <p:nvPr/>
        </p:nvSpPr>
        <p:spPr>
          <a:xfrm>
            <a:off x="3154680" y="2514600"/>
            <a:ext cx="2743200" cy="2148840"/>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6" name="Text 14"/>
          <p:cNvSpPr/>
          <p:nvPr/>
        </p:nvSpPr>
        <p:spPr>
          <a:xfrm>
            <a:off x="3154680" y="2578608"/>
            <a:ext cx="2743200" cy="502920"/>
          </a:xfrm>
          <a:prstGeom prst="rect">
            <a:avLst/>
          </a:prstGeom>
          <a:noFill/>
          <a:ln/>
        </p:spPr>
        <p:txBody>
          <a:bodyPr anchor="ctr" bIns="0" lIns="0" numCol="1" rIns="0" rtlCol="0" tIns="0" wrap="square"/>
          <a:lstStyle/>
          <a:p>
            <a:pPr algn="ctr" indent="0" marL="0">
              <a:buNone/>
            </a:pPr>
            <a:r>
              <a:rPr dirty="0" lang="en-US" sz="2200">
                <a:solidFill>
                  <a:srgbClr val="00B4D8"/>
                </a:solidFill>
              </a:rPr>
              <a:t>❌</a:t>
            </a:r>
            <a:endParaRPr dirty="0" lang="en-US" sz="2200"/>
          </a:p>
        </p:txBody>
      </p:sp>
      <p:sp>
        <p:nvSpPr>
          <p:cNvPr id="17" name="Text 15"/>
          <p:cNvSpPr/>
          <p:nvPr/>
        </p:nvSpPr>
        <p:spPr>
          <a:xfrm>
            <a:off x="3291840" y="3108960"/>
            <a:ext cx="2468880" cy="347472"/>
          </a:xfrm>
          <a:prstGeom prst="rect">
            <a:avLst/>
          </a:prstGeom>
          <a:noFill/>
          <a:ln/>
        </p:spPr>
        <p:txBody>
          <a:bodyPr anchor="ctr" bIns="0" lIns="0" numCol="1" rIns="0" rtlCol="0" tIns="0" wrap="square"/>
          <a:lstStyle/>
          <a:p>
            <a:pPr algn="ctr" indent="0" marL="0">
              <a:buNone/>
            </a:pPr>
            <a:r>
              <a:rPr b="1" dirty="0" lang="en-US" sz="1300">
                <a:solidFill>
                  <a:srgbClr val="FFFFFF"/>
                </a:solidFill>
                <a:latin charset="0" pitchFamily="34" typeface="Calibri"/>
                <a:ea charset="-122" pitchFamily="34" typeface="Calibri"/>
                <a:cs charset="-120" pitchFamily="34" typeface="Calibri"/>
              </a:rPr>
              <a:t>Human Bias</a:t>
            </a:r>
            <a:endParaRPr dirty="0" lang="en-US" sz="1300"/>
          </a:p>
        </p:txBody>
      </p:sp>
      <p:sp>
        <p:nvSpPr>
          <p:cNvPr id="18" name="Text 16"/>
          <p:cNvSpPr/>
          <p:nvPr/>
        </p:nvSpPr>
        <p:spPr>
          <a:xfrm>
            <a:off x="3291840" y="3493008"/>
            <a:ext cx="2468880" cy="1005840"/>
          </a:xfrm>
          <a:prstGeom prst="rect">
            <a:avLst/>
          </a:prstGeom>
          <a:noFill/>
          <a:ln/>
        </p:spPr>
        <p:txBody>
          <a:bodyPr anchor="ctr" bIns="0" lIns="0" numCol="1" rIns="0" rtlCol="0" tIns="0" wrap="square"/>
          <a:lstStyle/>
          <a:p>
            <a:pPr algn="ctr" indent="0" marL="0">
              <a:buNone/>
            </a:pPr>
            <a:r>
              <a:rPr dirty="0" lang="en-US" sz="1000">
                <a:solidFill>
                  <a:srgbClr val="8EAAD4"/>
                </a:solidFill>
                <a:latin charset="0" pitchFamily="34" typeface="Calibri"/>
                <a:ea charset="-122" pitchFamily="34" typeface="Calibri"/>
                <a:cs charset="-120" pitchFamily="34" typeface="Calibri"/>
              </a:rPr>
              <a:t>Human reviewers often introduce inconsistency and subjectivity in sentiment labeling.</a:t>
            </a:r>
            <a:endParaRPr dirty="0" lang="en-US" sz="1000"/>
          </a:p>
        </p:txBody>
      </p:sp>
      <p:sp>
        <p:nvSpPr>
          <p:cNvPr id="19" name="Shape 17"/>
          <p:cNvSpPr/>
          <p:nvPr/>
        </p:nvSpPr>
        <p:spPr>
          <a:xfrm>
            <a:off x="6080760" y="2514600"/>
            <a:ext cx="2743200" cy="2148840"/>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0" name="Text 18"/>
          <p:cNvSpPr/>
          <p:nvPr/>
        </p:nvSpPr>
        <p:spPr>
          <a:xfrm>
            <a:off x="6080760" y="2578608"/>
            <a:ext cx="2743200" cy="502920"/>
          </a:xfrm>
          <a:prstGeom prst="rect">
            <a:avLst/>
          </a:prstGeom>
          <a:noFill/>
          <a:ln/>
        </p:spPr>
        <p:txBody>
          <a:bodyPr anchor="ctr" bIns="0" lIns="0" numCol="1" rIns="0" rtlCol="0" tIns="0" wrap="square"/>
          <a:lstStyle/>
          <a:p>
            <a:pPr algn="ctr" indent="0" marL="0">
              <a:buNone/>
            </a:pPr>
            <a:r>
              <a:rPr dirty="0" lang="en-US" sz="2200">
                <a:solidFill>
                  <a:srgbClr val="00B4D8"/>
                </a:solidFill>
              </a:rPr>
              <a:t>📊</a:t>
            </a:r>
            <a:endParaRPr dirty="0" lang="en-US" sz="2200"/>
          </a:p>
        </p:txBody>
      </p:sp>
      <p:sp>
        <p:nvSpPr>
          <p:cNvPr id="21" name="Text 19"/>
          <p:cNvSpPr/>
          <p:nvPr/>
        </p:nvSpPr>
        <p:spPr>
          <a:xfrm>
            <a:off x="6217920" y="3108960"/>
            <a:ext cx="2468880" cy="347472"/>
          </a:xfrm>
          <a:prstGeom prst="rect">
            <a:avLst/>
          </a:prstGeom>
          <a:noFill/>
          <a:ln/>
        </p:spPr>
        <p:txBody>
          <a:bodyPr anchor="ctr" bIns="0" lIns="0" numCol="1" rIns="0" rtlCol="0" tIns="0" wrap="square"/>
          <a:lstStyle/>
          <a:p>
            <a:pPr algn="ctr" indent="0" marL="0">
              <a:buNone/>
            </a:pPr>
            <a:r>
              <a:rPr b="1" dirty="0" lang="en-US" sz="1300">
                <a:solidFill>
                  <a:srgbClr val="FFFFFF"/>
                </a:solidFill>
                <a:latin charset="0" pitchFamily="34" typeface="Calibri"/>
                <a:ea charset="-122" pitchFamily="34" typeface="Calibri"/>
                <a:cs charset="-120" pitchFamily="34" typeface="Calibri"/>
              </a:rPr>
              <a:t>No Scalability</a:t>
            </a:r>
            <a:endParaRPr dirty="0" lang="en-US" sz="1300"/>
          </a:p>
        </p:txBody>
      </p:sp>
      <p:sp>
        <p:nvSpPr>
          <p:cNvPr id="22" name="Text 20"/>
          <p:cNvSpPr/>
          <p:nvPr/>
        </p:nvSpPr>
        <p:spPr>
          <a:xfrm>
            <a:off x="6217920" y="3493008"/>
            <a:ext cx="2468880" cy="1005840"/>
          </a:xfrm>
          <a:prstGeom prst="rect">
            <a:avLst/>
          </a:prstGeom>
          <a:noFill/>
          <a:ln/>
        </p:spPr>
        <p:txBody>
          <a:bodyPr anchor="ctr" bIns="0" lIns="0" numCol="1" rIns="0" rtlCol="0" tIns="0" wrap="square"/>
          <a:lstStyle/>
          <a:p>
            <a:pPr algn="ctr" indent="0" marL="0">
              <a:buNone/>
            </a:pPr>
            <a:r>
              <a:rPr dirty="0" lang="en-US" sz="1000">
                <a:solidFill>
                  <a:srgbClr val="8EAAD4"/>
                </a:solidFill>
                <a:latin charset="0" pitchFamily="34" typeface="Calibri"/>
                <a:ea charset="-122" pitchFamily="34" typeface="Calibri"/>
                <a:cs charset="-120" pitchFamily="34" typeface="Calibri"/>
              </a:rPr>
              <a:t>Traditional rule-based systems fail to scale with growing volumes of unstructured text data.</a:t>
            </a:r>
            <a:endParaRPr dirty="0"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Proposed Solution</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Text 6"/>
          <p:cNvSpPr/>
          <p:nvPr/>
        </p:nvSpPr>
        <p:spPr>
          <a:xfrm>
            <a:off x="228600" y="914400"/>
            <a:ext cx="8686800" cy="457200"/>
          </a:xfrm>
          <a:prstGeom prst="rect">
            <a:avLst/>
          </a:prstGeom>
          <a:noFill/>
          <a:ln/>
        </p:spPr>
        <p:txBody>
          <a:bodyPr anchor="ctr" bIns="0" lIns="0" numCol="1" rIns="0" rtlCol="0" tIns="0" wrap="square"/>
          <a:lstStyle/>
          <a:p>
            <a:pPr indent="0" marL="0">
              <a:buNone/>
            </a:pPr>
            <a:r>
              <a:rPr dirty="0" lang="en-US" sz="1200">
                <a:solidFill>
                  <a:srgbClr val="90E0EF"/>
                </a:solidFill>
                <a:latin charset="0" pitchFamily="34" typeface="Calibri"/>
                <a:ea charset="-122" pitchFamily="34" typeface="Calibri"/>
                <a:cs charset="-120" pitchFamily="34" typeface="Calibri"/>
              </a:rPr>
              <a:t>An intelligent AI-powered system to automatically analyze text sentiment using state-of-the-art NLP models.</a:t>
            </a:r>
            <a:endParaRPr dirty="0" lang="en-US" sz="1200"/>
          </a:p>
        </p:txBody>
      </p:sp>
      <p:sp>
        <p:nvSpPr>
          <p:cNvPr id="9" name="Shape 7"/>
          <p:cNvSpPr/>
          <p:nvPr/>
        </p:nvSpPr>
        <p:spPr>
          <a:xfrm>
            <a:off x="228600" y="1463040"/>
            <a:ext cx="8686800" cy="7132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0" name="Shape 8"/>
          <p:cNvSpPr/>
          <p:nvPr/>
        </p:nvSpPr>
        <p:spPr>
          <a:xfrm>
            <a:off x="228600" y="1463040"/>
            <a:ext cx="731520" cy="713232"/>
          </a:xfrm>
          <a:prstGeom prst="rect">
            <a:avLst/>
          </a:prstGeom>
          <a:solidFill>
            <a:srgbClr val="1565C0"/>
          </a:solidFill>
          <a:ln w="12700">
            <a:solidFill>
              <a:srgbClr val="1565C0"/>
            </a:solidFill>
            <a:prstDash val="solid"/>
          </a:ln>
        </p:spPr>
      </p:sp>
      <p:sp>
        <p:nvSpPr>
          <p:cNvPr id="11" name="Text 9"/>
          <p:cNvSpPr/>
          <p:nvPr/>
        </p:nvSpPr>
        <p:spPr>
          <a:xfrm>
            <a:off x="228600" y="1463040"/>
            <a:ext cx="731520" cy="713232"/>
          </a:xfrm>
          <a:prstGeom prst="rect">
            <a:avLst/>
          </a:prstGeom>
          <a:noFill/>
          <a:ln/>
        </p:spPr>
        <p:txBody>
          <a:bodyPr anchor="ctr" bIns="0" lIns="0" numCol="1" rIns="0" rtlCol="0" tIns="0" wrap="square"/>
          <a:lstStyle/>
          <a:p>
            <a:pPr algn="ctr" indent="0" marL="0">
              <a:buNone/>
            </a:pPr>
            <a:r>
              <a:rPr dirty="0" lang="en-US" sz="2000">
                <a:solidFill>
                  <a:srgbClr val="FFFFFF"/>
                </a:solidFill>
              </a:rPr>
              <a:t>🔤</a:t>
            </a:r>
            <a:endParaRPr dirty="0" lang="en-US" sz="2000"/>
          </a:p>
        </p:txBody>
      </p:sp>
      <p:sp>
        <p:nvSpPr>
          <p:cNvPr id="12" name="Text 10"/>
          <p:cNvSpPr/>
          <p:nvPr/>
        </p:nvSpPr>
        <p:spPr>
          <a:xfrm>
            <a:off x="1051560" y="1527048"/>
            <a:ext cx="1828800" cy="274320"/>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Text Input</a:t>
            </a:r>
            <a:endParaRPr dirty="0" lang="en-US" sz="1300"/>
          </a:p>
        </p:txBody>
      </p:sp>
      <p:sp>
        <p:nvSpPr>
          <p:cNvPr id="13" name="Text 11"/>
          <p:cNvSpPr/>
          <p:nvPr/>
        </p:nvSpPr>
        <p:spPr>
          <a:xfrm>
            <a:off x="1051560" y="1810512"/>
            <a:ext cx="7680960" cy="29260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User provides any text — review, tweet, feedback, or custom sentence as input to the system.</a:t>
            </a:r>
            <a:endParaRPr dirty="0" lang="en-US" sz="1000"/>
          </a:p>
        </p:txBody>
      </p:sp>
      <p:sp>
        <p:nvSpPr>
          <p:cNvPr id="14" name="Shape 12"/>
          <p:cNvSpPr/>
          <p:nvPr/>
        </p:nvSpPr>
        <p:spPr>
          <a:xfrm>
            <a:off x="228600" y="2267712"/>
            <a:ext cx="8686800" cy="7132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5" name="Shape 13"/>
          <p:cNvSpPr/>
          <p:nvPr/>
        </p:nvSpPr>
        <p:spPr>
          <a:xfrm>
            <a:off x="228600" y="2267712"/>
            <a:ext cx="731520" cy="713232"/>
          </a:xfrm>
          <a:prstGeom prst="rect">
            <a:avLst/>
          </a:prstGeom>
          <a:solidFill>
            <a:srgbClr val="1565C0"/>
          </a:solidFill>
          <a:ln w="12700">
            <a:solidFill>
              <a:srgbClr val="1565C0"/>
            </a:solidFill>
            <a:prstDash val="solid"/>
          </a:ln>
        </p:spPr>
      </p:sp>
      <p:sp>
        <p:nvSpPr>
          <p:cNvPr id="16" name="Text 14"/>
          <p:cNvSpPr/>
          <p:nvPr/>
        </p:nvSpPr>
        <p:spPr>
          <a:xfrm>
            <a:off x="228600" y="2267712"/>
            <a:ext cx="731520" cy="713232"/>
          </a:xfrm>
          <a:prstGeom prst="rect">
            <a:avLst/>
          </a:prstGeom>
          <a:noFill/>
          <a:ln/>
        </p:spPr>
        <p:txBody>
          <a:bodyPr anchor="ctr" bIns="0" lIns="0" numCol="1" rIns="0" rtlCol="0" tIns="0" wrap="square"/>
          <a:lstStyle/>
          <a:p>
            <a:pPr algn="ctr" indent="0" marL="0">
              <a:buNone/>
            </a:pPr>
            <a:r>
              <a:rPr dirty="0" lang="en-US" sz="2000">
                <a:solidFill>
                  <a:srgbClr val="FFFFFF"/>
                </a:solidFill>
              </a:rPr>
              <a:t>🤖</a:t>
            </a:r>
            <a:endParaRPr dirty="0" lang="en-US" sz="2000"/>
          </a:p>
        </p:txBody>
      </p:sp>
      <p:sp>
        <p:nvSpPr>
          <p:cNvPr id="17" name="Text 15"/>
          <p:cNvSpPr/>
          <p:nvPr/>
        </p:nvSpPr>
        <p:spPr>
          <a:xfrm>
            <a:off x="1051560" y="2331720"/>
            <a:ext cx="1828800" cy="274320"/>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AI Model</a:t>
            </a:r>
            <a:endParaRPr dirty="0" lang="en-US" sz="1300"/>
          </a:p>
        </p:txBody>
      </p:sp>
      <p:sp>
        <p:nvSpPr>
          <p:cNvPr id="18" name="Text 16"/>
          <p:cNvSpPr/>
          <p:nvPr/>
        </p:nvSpPr>
        <p:spPr>
          <a:xfrm>
            <a:off x="1051560" y="2615184"/>
            <a:ext cx="7680960" cy="29260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Hugging Face RoBERTa model processes the input and classifies sentiment with confidence scores.</a:t>
            </a:r>
            <a:endParaRPr dirty="0" lang="en-US" sz="1000"/>
          </a:p>
        </p:txBody>
      </p:sp>
      <p:sp>
        <p:nvSpPr>
          <p:cNvPr id="19" name="Shape 17"/>
          <p:cNvSpPr/>
          <p:nvPr/>
        </p:nvSpPr>
        <p:spPr>
          <a:xfrm>
            <a:off x="228600" y="3072384"/>
            <a:ext cx="8686800" cy="7132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0" name="Shape 18"/>
          <p:cNvSpPr/>
          <p:nvPr/>
        </p:nvSpPr>
        <p:spPr>
          <a:xfrm>
            <a:off x="228600" y="3072384"/>
            <a:ext cx="731520" cy="713232"/>
          </a:xfrm>
          <a:prstGeom prst="rect">
            <a:avLst/>
          </a:prstGeom>
          <a:solidFill>
            <a:srgbClr val="1565C0"/>
          </a:solidFill>
          <a:ln w="12700">
            <a:solidFill>
              <a:srgbClr val="1565C0"/>
            </a:solidFill>
            <a:prstDash val="solid"/>
          </a:ln>
        </p:spPr>
      </p:sp>
      <p:sp>
        <p:nvSpPr>
          <p:cNvPr id="21" name="Text 19"/>
          <p:cNvSpPr/>
          <p:nvPr/>
        </p:nvSpPr>
        <p:spPr>
          <a:xfrm>
            <a:off x="228600" y="3072384"/>
            <a:ext cx="731520" cy="713232"/>
          </a:xfrm>
          <a:prstGeom prst="rect">
            <a:avLst/>
          </a:prstGeom>
          <a:noFill/>
          <a:ln/>
        </p:spPr>
        <p:txBody>
          <a:bodyPr anchor="ctr" bIns="0" lIns="0" numCol="1" rIns="0" rtlCol="0" tIns="0" wrap="square"/>
          <a:lstStyle/>
          <a:p>
            <a:pPr algn="ctr" indent="0" marL="0">
              <a:buNone/>
            </a:pPr>
            <a:r>
              <a:rPr dirty="0" lang="en-US" sz="2000">
                <a:solidFill>
                  <a:srgbClr val="FFFFFF"/>
                </a:solidFill>
              </a:rPr>
              <a:t>📊</a:t>
            </a:r>
            <a:endParaRPr dirty="0" lang="en-US" sz="2000"/>
          </a:p>
        </p:txBody>
      </p:sp>
      <p:sp>
        <p:nvSpPr>
          <p:cNvPr id="22" name="Text 20"/>
          <p:cNvSpPr/>
          <p:nvPr/>
        </p:nvSpPr>
        <p:spPr>
          <a:xfrm>
            <a:off x="1051560" y="3136392"/>
            <a:ext cx="1828800" cy="274320"/>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Emotion Engine</a:t>
            </a:r>
            <a:endParaRPr dirty="0" lang="en-US" sz="1300"/>
          </a:p>
        </p:txBody>
      </p:sp>
      <p:sp>
        <p:nvSpPr>
          <p:cNvPr id="23" name="Text 21"/>
          <p:cNvSpPr/>
          <p:nvPr/>
        </p:nvSpPr>
        <p:spPr>
          <a:xfrm>
            <a:off x="1051560" y="3419856"/>
            <a:ext cx="7680960" cy="29260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DistilRoBERTa model detects 7 core emotions: Joy, Sadness, Anger, Fear, Disgust, Surprise, Neutral.</a:t>
            </a:r>
            <a:endParaRPr dirty="0" lang="en-US" sz="1000"/>
          </a:p>
        </p:txBody>
      </p:sp>
      <p:sp>
        <p:nvSpPr>
          <p:cNvPr id="24" name="Shape 22"/>
          <p:cNvSpPr/>
          <p:nvPr/>
        </p:nvSpPr>
        <p:spPr>
          <a:xfrm>
            <a:off x="228600" y="3877056"/>
            <a:ext cx="8686800" cy="7132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5" name="Shape 23"/>
          <p:cNvSpPr/>
          <p:nvPr/>
        </p:nvSpPr>
        <p:spPr>
          <a:xfrm>
            <a:off x="228600" y="3877056"/>
            <a:ext cx="731520" cy="713232"/>
          </a:xfrm>
          <a:prstGeom prst="rect">
            <a:avLst/>
          </a:prstGeom>
          <a:solidFill>
            <a:srgbClr val="1565C0"/>
          </a:solidFill>
          <a:ln w="12700">
            <a:solidFill>
              <a:srgbClr val="1565C0"/>
            </a:solidFill>
            <a:prstDash val="solid"/>
          </a:ln>
        </p:spPr>
      </p:sp>
      <p:sp>
        <p:nvSpPr>
          <p:cNvPr id="26" name="Text 24"/>
          <p:cNvSpPr/>
          <p:nvPr/>
        </p:nvSpPr>
        <p:spPr>
          <a:xfrm>
            <a:off x="228600" y="3877056"/>
            <a:ext cx="731520" cy="713232"/>
          </a:xfrm>
          <a:prstGeom prst="rect">
            <a:avLst/>
          </a:prstGeom>
          <a:noFill/>
          <a:ln/>
        </p:spPr>
        <p:txBody>
          <a:bodyPr anchor="ctr" bIns="0" lIns="0" numCol="1" rIns="0" rtlCol="0" tIns="0" wrap="square"/>
          <a:lstStyle/>
          <a:p>
            <a:pPr algn="ctr" indent="0" marL="0">
              <a:buNone/>
            </a:pPr>
            <a:r>
              <a:rPr dirty="0" lang="en-US" sz="2000">
                <a:solidFill>
                  <a:srgbClr val="FFFFFF"/>
                </a:solidFill>
              </a:rPr>
              <a:t>📈</a:t>
            </a:r>
            <a:endParaRPr dirty="0" lang="en-US" sz="2000"/>
          </a:p>
        </p:txBody>
      </p:sp>
      <p:sp>
        <p:nvSpPr>
          <p:cNvPr id="27" name="Text 25"/>
          <p:cNvSpPr/>
          <p:nvPr/>
        </p:nvSpPr>
        <p:spPr>
          <a:xfrm>
            <a:off x="1051560" y="3941064"/>
            <a:ext cx="1828800" cy="274320"/>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Visual Output</a:t>
            </a:r>
            <a:endParaRPr dirty="0" lang="en-US" sz="1300"/>
          </a:p>
        </p:txBody>
      </p:sp>
      <p:sp>
        <p:nvSpPr>
          <p:cNvPr id="28" name="Text 26"/>
          <p:cNvSpPr/>
          <p:nvPr/>
        </p:nvSpPr>
        <p:spPr>
          <a:xfrm>
            <a:off x="1051560" y="4224528"/>
            <a:ext cx="7680960" cy="292608"/>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Results displayed with percentage bars showing Positive, Neutral, and Negative confidence scores.</a:t>
            </a:r>
            <a:endParaRPr dirty="0"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System Development Approach — Technology Used</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228600" y="960120"/>
            <a:ext cx="420624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9" name="Shape 7"/>
          <p:cNvSpPr/>
          <p:nvPr/>
        </p:nvSpPr>
        <p:spPr>
          <a:xfrm>
            <a:off x="228600" y="960120"/>
            <a:ext cx="640080" cy="1115568"/>
          </a:xfrm>
          <a:prstGeom prst="rect">
            <a:avLst/>
          </a:prstGeom>
          <a:solidFill>
            <a:srgbClr val="0D3B6E"/>
          </a:solidFill>
          <a:ln w="12700">
            <a:solidFill>
              <a:srgbClr val="0D3B6E"/>
            </a:solidFill>
            <a:prstDash val="solid"/>
          </a:ln>
        </p:spPr>
      </p:sp>
      <p:sp>
        <p:nvSpPr>
          <p:cNvPr id="10" name="Text 8"/>
          <p:cNvSpPr/>
          <p:nvPr/>
        </p:nvSpPr>
        <p:spPr>
          <a:xfrm>
            <a:off x="228600" y="960120"/>
            <a:ext cx="640080" cy="1115568"/>
          </a:xfrm>
          <a:prstGeom prst="rect">
            <a:avLst/>
          </a:prstGeom>
          <a:noFill/>
          <a:ln/>
        </p:spPr>
        <p:txBody>
          <a:bodyPr anchor="ctr" bIns="0" lIns="0" numCol="1" rIns="0" rtlCol="0" tIns="0" wrap="square"/>
          <a:lstStyle/>
          <a:p>
            <a:pPr algn="ctr" indent="0" marL="0">
              <a:buNone/>
            </a:pPr>
            <a:r>
              <a:rPr dirty="0" lang="en-US" sz="2200">
                <a:solidFill>
                  <a:srgbClr val="FFFFFF"/>
                </a:solidFill>
              </a:rPr>
              <a:t>🐍</a:t>
            </a:r>
            <a:endParaRPr dirty="0" lang="en-US" sz="2200"/>
          </a:p>
        </p:txBody>
      </p:sp>
      <p:sp>
        <p:nvSpPr>
          <p:cNvPr id="11" name="Text 9"/>
          <p:cNvSpPr/>
          <p:nvPr/>
        </p:nvSpPr>
        <p:spPr>
          <a:xfrm>
            <a:off x="960120" y="1051560"/>
            <a:ext cx="3337560" cy="347472"/>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Python 3.x</a:t>
            </a:r>
            <a:endParaRPr dirty="0" lang="en-US" sz="1300"/>
          </a:p>
        </p:txBody>
      </p:sp>
      <p:sp>
        <p:nvSpPr>
          <p:cNvPr id="12" name="Text 10"/>
          <p:cNvSpPr/>
          <p:nvPr/>
        </p:nvSpPr>
        <p:spPr>
          <a:xfrm>
            <a:off x="960120" y="1417320"/>
            <a:ext cx="3337560" cy="548640"/>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Core programming language for API calls and result processing</a:t>
            </a:r>
            <a:endParaRPr dirty="0" lang="en-US" sz="1000"/>
          </a:p>
        </p:txBody>
      </p:sp>
      <p:sp>
        <p:nvSpPr>
          <p:cNvPr id="13" name="Shape 11"/>
          <p:cNvSpPr/>
          <p:nvPr/>
        </p:nvSpPr>
        <p:spPr>
          <a:xfrm>
            <a:off x="4709160" y="960120"/>
            <a:ext cx="420624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4" name="Shape 12"/>
          <p:cNvSpPr/>
          <p:nvPr/>
        </p:nvSpPr>
        <p:spPr>
          <a:xfrm>
            <a:off x="4709160" y="960120"/>
            <a:ext cx="640080" cy="1115568"/>
          </a:xfrm>
          <a:prstGeom prst="rect">
            <a:avLst/>
          </a:prstGeom>
          <a:solidFill>
            <a:srgbClr val="0D3B6E"/>
          </a:solidFill>
          <a:ln w="12700">
            <a:solidFill>
              <a:srgbClr val="0D3B6E"/>
            </a:solidFill>
            <a:prstDash val="solid"/>
          </a:ln>
        </p:spPr>
      </p:sp>
      <p:sp>
        <p:nvSpPr>
          <p:cNvPr id="15" name="Text 13"/>
          <p:cNvSpPr/>
          <p:nvPr/>
        </p:nvSpPr>
        <p:spPr>
          <a:xfrm>
            <a:off x="4709160" y="960120"/>
            <a:ext cx="640080" cy="1115568"/>
          </a:xfrm>
          <a:prstGeom prst="rect">
            <a:avLst/>
          </a:prstGeom>
          <a:noFill/>
          <a:ln/>
        </p:spPr>
        <p:txBody>
          <a:bodyPr anchor="ctr" bIns="0" lIns="0" numCol="1" rIns="0" rtlCol="0" tIns="0" wrap="square"/>
          <a:lstStyle/>
          <a:p>
            <a:pPr algn="ctr" indent="0" marL="0">
              <a:buNone/>
            </a:pPr>
            <a:r>
              <a:rPr dirty="0" lang="en-US" sz="2200">
                <a:solidFill>
                  <a:srgbClr val="FFFFFF"/>
                </a:solidFill>
              </a:rPr>
              <a:t>🤗</a:t>
            </a:r>
            <a:endParaRPr dirty="0" lang="en-US" sz="2200"/>
          </a:p>
        </p:txBody>
      </p:sp>
      <p:sp>
        <p:nvSpPr>
          <p:cNvPr id="16" name="Text 14"/>
          <p:cNvSpPr/>
          <p:nvPr/>
        </p:nvSpPr>
        <p:spPr>
          <a:xfrm>
            <a:off x="5440680" y="1051560"/>
            <a:ext cx="3337560" cy="347472"/>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Hugging Face API</a:t>
            </a:r>
            <a:endParaRPr dirty="0" lang="en-US" sz="1300"/>
          </a:p>
        </p:txBody>
      </p:sp>
      <p:sp>
        <p:nvSpPr>
          <p:cNvPr id="17" name="Text 15"/>
          <p:cNvSpPr/>
          <p:nvPr/>
        </p:nvSpPr>
        <p:spPr>
          <a:xfrm>
            <a:off x="5440680" y="1417320"/>
            <a:ext cx="3337560" cy="548640"/>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Free Inference API providing access to pre-trained NLP models</a:t>
            </a:r>
            <a:endParaRPr dirty="0" lang="en-US" sz="1000"/>
          </a:p>
        </p:txBody>
      </p:sp>
      <p:sp>
        <p:nvSpPr>
          <p:cNvPr id="18" name="Shape 16"/>
          <p:cNvSpPr/>
          <p:nvPr/>
        </p:nvSpPr>
        <p:spPr>
          <a:xfrm>
            <a:off x="228600" y="2240280"/>
            <a:ext cx="420624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9" name="Shape 17"/>
          <p:cNvSpPr/>
          <p:nvPr/>
        </p:nvSpPr>
        <p:spPr>
          <a:xfrm>
            <a:off x="228600" y="2240280"/>
            <a:ext cx="640080" cy="1115568"/>
          </a:xfrm>
          <a:prstGeom prst="rect">
            <a:avLst/>
          </a:prstGeom>
          <a:solidFill>
            <a:srgbClr val="0D3B6E"/>
          </a:solidFill>
          <a:ln w="12700">
            <a:solidFill>
              <a:srgbClr val="0D3B6E"/>
            </a:solidFill>
            <a:prstDash val="solid"/>
          </a:ln>
        </p:spPr>
      </p:sp>
      <p:sp>
        <p:nvSpPr>
          <p:cNvPr id="20" name="Text 18"/>
          <p:cNvSpPr/>
          <p:nvPr/>
        </p:nvSpPr>
        <p:spPr>
          <a:xfrm>
            <a:off x="228600" y="2240280"/>
            <a:ext cx="640080" cy="1115568"/>
          </a:xfrm>
          <a:prstGeom prst="rect">
            <a:avLst/>
          </a:prstGeom>
          <a:noFill/>
          <a:ln/>
        </p:spPr>
        <p:txBody>
          <a:bodyPr anchor="ctr" bIns="0" lIns="0" numCol="1" rIns="0" rtlCol="0" tIns="0" wrap="square"/>
          <a:lstStyle/>
          <a:p>
            <a:pPr algn="ctr" indent="0" marL="0">
              <a:buNone/>
            </a:pPr>
            <a:r>
              <a:rPr dirty="0" lang="en-US" sz="2200">
                <a:solidFill>
                  <a:srgbClr val="FFFFFF"/>
                </a:solidFill>
              </a:rPr>
              <a:t>🧠</a:t>
            </a:r>
            <a:endParaRPr dirty="0" lang="en-US" sz="2200"/>
          </a:p>
        </p:txBody>
      </p:sp>
      <p:sp>
        <p:nvSpPr>
          <p:cNvPr id="21" name="Text 19"/>
          <p:cNvSpPr/>
          <p:nvPr/>
        </p:nvSpPr>
        <p:spPr>
          <a:xfrm>
            <a:off x="960120" y="2331720"/>
            <a:ext cx="3337560" cy="347472"/>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RoBERTa Model</a:t>
            </a:r>
            <a:endParaRPr dirty="0" lang="en-US" sz="1300"/>
          </a:p>
        </p:txBody>
      </p:sp>
      <p:sp>
        <p:nvSpPr>
          <p:cNvPr id="22" name="Text 20"/>
          <p:cNvSpPr/>
          <p:nvPr/>
        </p:nvSpPr>
        <p:spPr>
          <a:xfrm>
            <a:off x="960120" y="2697480"/>
            <a:ext cx="3337560" cy="548640"/>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twitter-roberta-base-sentiment-latest for sentiment classification</a:t>
            </a:r>
            <a:endParaRPr dirty="0" lang="en-US" sz="1000"/>
          </a:p>
        </p:txBody>
      </p:sp>
      <p:sp>
        <p:nvSpPr>
          <p:cNvPr id="23" name="Shape 21"/>
          <p:cNvSpPr/>
          <p:nvPr/>
        </p:nvSpPr>
        <p:spPr>
          <a:xfrm>
            <a:off x="4709160" y="2240280"/>
            <a:ext cx="420624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4" name="Shape 22"/>
          <p:cNvSpPr/>
          <p:nvPr/>
        </p:nvSpPr>
        <p:spPr>
          <a:xfrm>
            <a:off x="4709160" y="2240280"/>
            <a:ext cx="640080" cy="1115568"/>
          </a:xfrm>
          <a:prstGeom prst="rect">
            <a:avLst/>
          </a:prstGeom>
          <a:solidFill>
            <a:srgbClr val="0D3B6E"/>
          </a:solidFill>
          <a:ln w="12700">
            <a:solidFill>
              <a:srgbClr val="0D3B6E"/>
            </a:solidFill>
            <a:prstDash val="solid"/>
          </a:ln>
        </p:spPr>
      </p:sp>
      <p:sp>
        <p:nvSpPr>
          <p:cNvPr id="25" name="Text 23"/>
          <p:cNvSpPr/>
          <p:nvPr/>
        </p:nvSpPr>
        <p:spPr>
          <a:xfrm>
            <a:off x="4709160" y="2240280"/>
            <a:ext cx="640080" cy="1115568"/>
          </a:xfrm>
          <a:prstGeom prst="rect">
            <a:avLst/>
          </a:prstGeom>
          <a:noFill/>
          <a:ln/>
        </p:spPr>
        <p:txBody>
          <a:bodyPr anchor="ctr" bIns="0" lIns="0" numCol="1" rIns="0" rtlCol="0" tIns="0" wrap="square"/>
          <a:lstStyle/>
          <a:p>
            <a:pPr algn="ctr" indent="0" marL="0">
              <a:buNone/>
            </a:pPr>
            <a:r>
              <a:rPr dirty="0" lang="en-US" sz="2200">
                <a:solidFill>
                  <a:srgbClr val="FFFFFF"/>
                </a:solidFill>
              </a:rPr>
              <a:t>💡</a:t>
            </a:r>
            <a:endParaRPr dirty="0" lang="en-US" sz="2200"/>
          </a:p>
        </p:txBody>
      </p:sp>
      <p:sp>
        <p:nvSpPr>
          <p:cNvPr id="26" name="Text 24"/>
          <p:cNvSpPr/>
          <p:nvPr/>
        </p:nvSpPr>
        <p:spPr>
          <a:xfrm>
            <a:off x="5440680" y="2331720"/>
            <a:ext cx="3337560" cy="347472"/>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DistilRoBERTa</a:t>
            </a:r>
            <a:endParaRPr dirty="0" lang="en-US" sz="1300"/>
          </a:p>
        </p:txBody>
      </p:sp>
      <p:sp>
        <p:nvSpPr>
          <p:cNvPr id="27" name="Text 25"/>
          <p:cNvSpPr/>
          <p:nvPr/>
        </p:nvSpPr>
        <p:spPr>
          <a:xfrm>
            <a:off x="5440680" y="2697480"/>
            <a:ext cx="3337560" cy="548640"/>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emotion-english-distilroberta-base for emotion detection</a:t>
            </a:r>
            <a:endParaRPr dirty="0" lang="en-US" sz="1000"/>
          </a:p>
        </p:txBody>
      </p:sp>
      <p:sp>
        <p:nvSpPr>
          <p:cNvPr id="28" name="Shape 26"/>
          <p:cNvSpPr/>
          <p:nvPr/>
        </p:nvSpPr>
        <p:spPr>
          <a:xfrm>
            <a:off x="228600" y="3520440"/>
            <a:ext cx="420624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9" name="Shape 27"/>
          <p:cNvSpPr/>
          <p:nvPr/>
        </p:nvSpPr>
        <p:spPr>
          <a:xfrm>
            <a:off x="228600" y="3520440"/>
            <a:ext cx="640080" cy="1115568"/>
          </a:xfrm>
          <a:prstGeom prst="rect">
            <a:avLst/>
          </a:prstGeom>
          <a:solidFill>
            <a:srgbClr val="0D3B6E"/>
          </a:solidFill>
          <a:ln w="12700">
            <a:solidFill>
              <a:srgbClr val="0D3B6E"/>
            </a:solidFill>
            <a:prstDash val="solid"/>
          </a:ln>
        </p:spPr>
      </p:sp>
      <p:sp>
        <p:nvSpPr>
          <p:cNvPr id="30" name="Text 28"/>
          <p:cNvSpPr/>
          <p:nvPr/>
        </p:nvSpPr>
        <p:spPr>
          <a:xfrm>
            <a:off x="228600" y="3520440"/>
            <a:ext cx="640080" cy="1115568"/>
          </a:xfrm>
          <a:prstGeom prst="rect">
            <a:avLst/>
          </a:prstGeom>
          <a:noFill/>
          <a:ln/>
        </p:spPr>
        <p:txBody>
          <a:bodyPr anchor="ctr" bIns="0" lIns="0" numCol="1" rIns="0" rtlCol="0" tIns="0" wrap="square"/>
          <a:lstStyle/>
          <a:p>
            <a:pPr algn="ctr" indent="0" marL="0">
              <a:buNone/>
            </a:pPr>
            <a:r>
              <a:rPr dirty="0" lang="en-US" sz="2200">
                <a:solidFill>
                  <a:srgbClr val="FFFFFF"/>
                </a:solidFill>
              </a:rPr>
              <a:t>📓</a:t>
            </a:r>
            <a:endParaRPr dirty="0" lang="en-US" sz="2200"/>
          </a:p>
        </p:txBody>
      </p:sp>
      <p:sp>
        <p:nvSpPr>
          <p:cNvPr id="31" name="Text 29"/>
          <p:cNvSpPr/>
          <p:nvPr/>
        </p:nvSpPr>
        <p:spPr>
          <a:xfrm>
            <a:off x="960120" y="3611880"/>
            <a:ext cx="3337560" cy="347472"/>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Kaggle Notebooks</a:t>
            </a:r>
            <a:endParaRPr dirty="0" lang="en-US" sz="1300"/>
          </a:p>
        </p:txBody>
      </p:sp>
      <p:sp>
        <p:nvSpPr>
          <p:cNvPr id="32" name="Text 30"/>
          <p:cNvSpPr/>
          <p:nvPr/>
        </p:nvSpPr>
        <p:spPr>
          <a:xfrm>
            <a:off x="960120" y="3977640"/>
            <a:ext cx="3337560" cy="548640"/>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Free cloud-based Python execution environment, no setup needed</a:t>
            </a:r>
            <a:endParaRPr dirty="0" lang="en-US" sz="1000"/>
          </a:p>
        </p:txBody>
      </p:sp>
      <p:sp>
        <p:nvSpPr>
          <p:cNvPr id="33" name="Shape 31"/>
          <p:cNvSpPr/>
          <p:nvPr/>
        </p:nvSpPr>
        <p:spPr>
          <a:xfrm>
            <a:off x="4709160" y="3520440"/>
            <a:ext cx="4206240" cy="11155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34" name="Shape 32"/>
          <p:cNvSpPr/>
          <p:nvPr/>
        </p:nvSpPr>
        <p:spPr>
          <a:xfrm>
            <a:off x="4709160" y="3520440"/>
            <a:ext cx="640080" cy="1115568"/>
          </a:xfrm>
          <a:prstGeom prst="rect">
            <a:avLst/>
          </a:prstGeom>
          <a:solidFill>
            <a:srgbClr val="0D3B6E"/>
          </a:solidFill>
          <a:ln w="12700">
            <a:solidFill>
              <a:srgbClr val="0D3B6E"/>
            </a:solidFill>
            <a:prstDash val="solid"/>
          </a:ln>
        </p:spPr>
      </p:sp>
      <p:sp>
        <p:nvSpPr>
          <p:cNvPr id="35" name="Text 33"/>
          <p:cNvSpPr/>
          <p:nvPr/>
        </p:nvSpPr>
        <p:spPr>
          <a:xfrm>
            <a:off x="4709160" y="3520440"/>
            <a:ext cx="640080" cy="1115568"/>
          </a:xfrm>
          <a:prstGeom prst="rect">
            <a:avLst/>
          </a:prstGeom>
          <a:noFill/>
          <a:ln/>
        </p:spPr>
        <p:txBody>
          <a:bodyPr anchor="ctr" bIns="0" lIns="0" numCol="1" rIns="0" rtlCol="0" tIns="0" wrap="square"/>
          <a:lstStyle/>
          <a:p>
            <a:pPr algn="ctr" indent="0" marL="0">
              <a:buNone/>
            </a:pPr>
            <a:r>
              <a:rPr dirty="0" lang="en-US" sz="2200">
                <a:solidFill>
                  <a:srgbClr val="FFFFFF"/>
                </a:solidFill>
              </a:rPr>
              <a:t>🔐</a:t>
            </a:r>
            <a:endParaRPr dirty="0" lang="en-US" sz="2200"/>
          </a:p>
        </p:txBody>
      </p:sp>
      <p:sp>
        <p:nvSpPr>
          <p:cNvPr id="36" name="Text 34"/>
          <p:cNvSpPr/>
          <p:nvPr/>
        </p:nvSpPr>
        <p:spPr>
          <a:xfrm>
            <a:off x="5440680" y="3611880"/>
            <a:ext cx="3337560" cy="347472"/>
          </a:xfrm>
          <a:prstGeom prst="rect">
            <a:avLst/>
          </a:prstGeom>
          <a:noFill/>
          <a:ln/>
        </p:spPr>
        <p:txBody>
          <a:bodyPr anchor="ctr" bIns="0" lIns="0" numCol="1" rIns="0" rtlCol="0" tIns="0" wrap="square"/>
          <a:lstStyle/>
          <a:p>
            <a:pPr indent="0" marL="0">
              <a:buNone/>
            </a:pPr>
            <a:r>
              <a:rPr b="1" dirty="0" lang="en-US" sz="1300">
                <a:solidFill>
                  <a:srgbClr val="00B4D8"/>
                </a:solidFill>
                <a:latin charset="0" pitchFamily="34" typeface="Calibri"/>
                <a:ea charset="-122" pitchFamily="34" typeface="Calibri"/>
                <a:cs charset="-120" pitchFamily="34" typeface="Calibri"/>
              </a:rPr>
              <a:t>Kaggle Secrets</a:t>
            </a:r>
            <a:endParaRPr dirty="0" lang="en-US" sz="1300"/>
          </a:p>
        </p:txBody>
      </p:sp>
      <p:sp>
        <p:nvSpPr>
          <p:cNvPr id="37" name="Text 35"/>
          <p:cNvSpPr/>
          <p:nvPr/>
        </p:nvSpPr>
        <p:spPr>
          <a:xfrm>
            <a:off x="5440680" y="3977640"/>
            <a:ext cx="3337560" cy="548640"/>
          </a:xfrm>
          <a:prstGeom prst="rect">
            <a:avLst/>
          </a:prstGeom>
          <a:noFill/>
          <a:ln/>
        </p:spPr>
        <p:txBody>
          <a:bodyPr anchor="ctr" bIns="0" lIns="0" numCol="1" rIns="0" rtlCol="0" tIns="0" wrap="square"/>
          <a:lstStyle/>
          <a:p>
            <a:pPr indent="0" marL="0">
              <a:buNone/>
            </a:pPr>
            <a:r>
              <a:rPr dirty="0" lang="en-US" sz="1000">
                <a:solidFill>
                  <a:srgbClr val="8EAAD4"/>
                </a:solidFill>
                <a:latin charset="0" pitchFamily="34" typeface="Calibri"/>
                <a:ea charset="-122" pitchFamily="34" typeface="Calibri"/>
                <a:cs charset="-120" pitchFamily="34" typeface="Calibri"/>
              </a:rPr>
              <a:t>Secure API token management using UserSecretsClient</a:t>
            </a:r>
            <a:endParaRPr dirty="0"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Algorithm &amp; Deployment</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274320" y="960120"/>
            <a:ext cx="1508760" cy="594360"/>
          </a:xfrm>
          <a:prstGeom prst="rect">
            <a:avLst/>
          </a:prstGeom>
          <a:solidFill>
            <a:srgbClr val="1565C0"/>
          </a:solidFill>
          <a:ln w="12700">
            <a:solidFill>
              <a:srgbClr val="00B4D8"/>
            </a:solidFill>
            <a:prstDash val="solid"/>
          </a:ln>
        </p:spPr>
      </p:sp>
      <p:sp>
        <p:nvSpPr>
          <p:cNvPr id="9" name="Text 7"/>
          <p:cNvSpPr/>
          <p:nvPr/>
        </p:nvSpPr>
        <p:spPr>
          <a:xfrm>
            <a:off x="274320" y="960120"/>
            <a:ext cx="1508760" cy="59436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Text Input</a:t>
            </a:r>
            <a:endParaRPr dirty="0" lang="en-US" sz="1000"/>
          </a:p>
        </p:txBody>
      </p:sp>
      <p:sp>
        <p:nvSpPr>
          <p:cNvPr id="10" name="Shape 8"/>
          <p:cNvSpPr/>
          <p:nvPr/>
        </p:nvSpPr>
        <p:spPr>
          <a:xfrm>
            <a:off x="1783080" y="1161288"/>
            <a:ext cx="228600" cy="182880"/>
          </a:xfrm>
          <a:prstGeom prst="rect">
            <a:avLst/>
          </a:prstGeom>
          <a:solidFill>
            <a:srgbClr val="00B4D8"/>
          </a:solidFill>
          <a:ln w="12700">
            <a:solidFill>
              <a:srgbClr val="00B4D8"/>
            </a:solidFill>
            <a:prstDash val="solid"/>
          </a:ln>
        </p:spPr>
      </p:sp>
      <p:sp>
        <p:nvSpPr>
          <p:cNvPr id="11" name="Shape 9"/>
          <p:cNvSpPr/>
          <p:nvPr/>
        </p:nvSpPr>
        <p:spPr>
          <a:xfrm>
            <a:off x="2011680" y="960120"/>
            <a:ext cx="1508760" cy="594360"/>
          </a:xfrm>
          <a:prstGeom prst="rect">
            <a:avLst/>
          </a:prstGeom>
          <a:solidFill>
            <a:srgbClr val="1565C0"/>
          </a:solidFill>
          <a:ln w="12700">
            <a:solidFill>
              <a:srgbClr val="00B4D8"/>
            </a:solidFill>
            <a:prstDash val="solid"/>
          </a:ln>
        </p:spPr>
      </p:sp>
      <p:sp>
        <p:nvSpPr>
          <p:cNvPr id="12" name="Text 10"/>
          <p:cNvSpPr/>
          <p:nvPr/>
        </p:nvSpPr>
        <p:spPr>
          <a:xfrm>
            <a:off x="2011680" y="960120"/>
            <a:ext cx="1508760" cy="59436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API Request</a:t>
            </a:r>
            <a:endParaRPr dirty="0" lang="en-US" sz="1000"/>
          </a:p>
        </p:txBody>
      </p:sp>
      <p:sp>
        <p:nvSpPr>
          <p:cNvPr id="13" name="Shape 11"/>
          <p:cNvSpPr/>
          <p:nvPr/>
        </p:nvSpPr>
        <p:spPr>
          <a:xfrm>
            <a:off x="3520440" y="1161288"/>
            <a:ext cx="228600" cy="182880"/>
          </a:xfrm>
          <a:prstGeom prst="rect">
            <a:avLst/>
          </a:prstGeom>
          <a:solidFill>
            <a:srgbClr val="00B4D8"/>
          </a:solidFill>
          <a:ln w="12700">
            <a:solidFill>
              <a:srgbClr val="00B4D8"/>
            </a:solidFill>
            <a:prstDash val="solid"/>
          </a:ln>
        </p:spPr>
      </p:sp>
      <p:sp>
        <p:nvSpPr>
          <p:cNvPr id="14" name="Shape 12"/>
          <p:cNvSpPr/>
          <p:nvPr/>
        </p:nvSpPr>
        <p:spPr>
          <a:xfrm>
            <a:off x="3749040" y="960120"/>
            <a:ext cx="1508760" cy="594360"/>
          </a:xfrm>
          <a:prstGeom prst="rect">
            <a:avLst/>
          </a:prstGeom>
          <a:solidFill>
            <a:srgbClr val="1565C0"/>
          </a:solidFill>
          <a:ln w="12700">
            <a:solidFill>
              <a:srgbClr val="00B4D8"/>
            </a:solidFill>
            <a:prstDash val="solid"/>
          </a:ln>
        </p:spPr>
      </p:sp>
      <p:sp>
        <p:nvSpPr>
          <p:cNvPr id="15" name="Text 13"/>
          <p:cNvSpPr/>
          <p:nvPr/>
        </p:nvSpPr>
        <p:spPr>
          <a:xfrm>
            <a:off x="3749040" y="960120"/>
            <a:ext cx="1508760" cy="59436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RoBERTa Model</a:t>
            </a:r>
            <a:endParaRPr dirty="0" lang="en-US" sz="1000"/>
          </a:p>
        </p:txBody>
      </p:sp>
      <p:sp>
        <p:nvSpPr>
          <p:cNvPr id="16" name="Shape 14"/>
          <p:cNvSpPr/>
          <p:nvPr/>
        </p:nvSpPr>
        <p:spPr>
          <a:xfrm>
            <a:off x="5257800" y="1161288"/>
            <a:ext cx="228600" cy="182880"/>
          </a:xfrm>
          <a:prstGeom prst="rect">
            <a:avLst/>
          </a:prstGeom>
          <a:solidFill>
            <a:srgbClr val="00B4D8"/>
          </a:solidFill>
          <a:ln w="12700">
            <a:solidFill>
              <a:srgbClr val="00B4D8"/>
            </a:solidFill>
            <a:prstDash val="solid"/>
          </a:ln>
        </p:spPr>
      </p:sp>
      <p:sp>
        <p:nvSpPr>
          <p:cNvPr id="17" name="Shape 15"/>
          <p:cNvSpPr/>
          <p:nvPr/>
        </p:nvSpPr>
        <p:spPr>
          <a:xfrm>
            <a:off x="5486400" y="960120"/>
            <a:ext cx="1508760" cy="594360"/>
          </a:xfrm>
          <a:prstGeom prst="rect">
            <a:avLst/>
          </a:prstGeom>
          <a:solidFill>
            <a:srgbClr val="1565C0"/>
          </a:solidFill>
          <a:ln w="12700">
            <a:solidFill>
              <a:srgbClr val="00B4D8"/>
            </a:solidFill>
            <a:prstDash val="solid"/>
          </a:ln>
        </p:spPr>
      </p:sp>
      <p:sp>
        <p:nvSpPr>
          <p:cNvPr id="18" name="Text 16"/>
          <p:cNvSpPr/>
          <p:nvPr/>
        </p:nvSpPr>
        <p:spPr>
          <a:xfrm>
            <a:off x="5486400" y="960120"/>
            <a:ext cx="1508760" cy="59436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Score Sorting</a:t>
            </a:r>
            <a:endParaRPr dirty="0" lang="en-US" sz="1000"/>
          </a:p>
        </p:txBody>
      </p:sp>
      <p:sp>
        <p:nvSpPr>
          <p:cNvPr id="19" name="Shape 17"/>
          <p:cNvSpPr/>
          <p:nvPr/>
        </p:nvSpPr>
        <p:spPr>
          <a:xfrm>
            <a:off x="6995160" y="1161288"/>
            <a:ext cx="228600" cy="182880"/>
          </a:xfrm>
          <a:prstGeom prst="rect">
            <a:avLst/>
          </a:prstGeom>
          <a:solidFill>
            <a:srgbClr val="00B4D8"/>
          </a:solidFill>
          <a:ln w="12700">
            <a:solidFill>
              <a:srgbClr val="00B4D8"/>
            </a:solidFill>
            <a:prstDash val="solid"/>
          </a:ln>
        </p:spPr>
      </p:sp>
      <p:sp>
        <p:nvSpPr>
          <p:cNvPr id="20" name="Shape 18"/>
          <p:cNvSpPr/>
          <p:nvPr/>
        </p:nvSpPr>
        <p:spPr>
          <a:xfrm>
            <a:off x="7223760" y="960120"/>
            <a:ext cx="1508760" cy="594360"/>
          </a:xfrm>
          <a:prstGeom prst="rect">
            <a:avLst/>
          </a:prstGeom>
          <a:solidFill>
            <a:srgbClr val="1565C0"/>
          </a:solidFill>
          <a:ln w="12700">
            <a:solidFill>
              <a:srgbClr val="00B4D8"/>
            </a:solidFill>
            <a:prstDash val="solid"/>
          </a:ln>
        </p:spPr>
      </p:sp>
      <p:sp>
        <p:nvSpPr>
          <p:cNvPr id="21" name="Text 19"/>
          <p:cNvSpPr/>
          <p:nvPr/>
        </p:nvSpPr>
        <p:spPr>
          <a:xfrm>
            <a:off x="7223760" y="960120"/>
            <a:ext cx="1508760" cy="59436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Output Display</a:t>
            </a:r>
            <a:endParaRPr dirty="0" lang="en-US" sz="1000"/>
          </a:p>
        </p:txBody>
      </p:sp>
      <p:sp>
        <p:nvSpPr>
          <p:cNvPr id="22" name="Text 20"/>
          <p:cNvSpPr/>
          <p:nvPr/>
        </p:nvSpPr>
        <p:spPr>
          <a:xfrm>
            <a:off x="274320" y="841248"/>
            <a:ext cx="8595360" cy="182880"/>
          </a:xfrm>
          <a:prstGeom prst="rect">
            <a:avLst/>
          </a:prstGeom>
          <a:noFill/>
          <a:ln/>
        </p:spPr>
        <p:txBody>
          <a:bodyPr anchor="ctr" bIns="0" lIns="0" numCol="1" rIns="0" rtlCol="0" tIns="0" wrap="square"/>
          <a:lstStyle/>
          <a:p>
            <a:pPr indent="0" marL="0">
              <a:buNone/>
            </a:pPr>
            <a:r>
              <a:rPr b="1" dirty="0" kern="0" lang="en-US" spc="200" sz="900">
                <a:solidFill>
                  <a:srgbClr val="00B4D8"/>
                </a:solidFill>
                <a:latin charset="0" pitchFamily="34" typeface="Calibri"/>
                <a:ea charset="-122" pitchFamily="34" typeface="Calibri"/>
                <a:cs charset="-120" pitchFamily="34" typeface="Calibri"/>
              </a:rPr>
              <a:t>SYSTEM PIPELINE</a:t>
            </a:r>
            <a:endParaRPr dirty="0" lang="en-US" sz="900"/>
          </a:p>
        </p:txBody>
      </p:sp>
      <p:sp>
        <p:nvSpPr>
          <p:cNvPr id="23" name="Shape 21"/>
          <p:cNvSpPr/>
          <p:nvPr/>
        </p:nvSpPr>
        <p:spPr>
          <a:xfrm>
            <a:off x="228600" y="1719072"/>
            <a:ext cx="4937760" cy="2944368"/>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4" name="Text 22"/>
          <p:cNvSpPr/>
          <p:nvPr/>
        </p:nvSpPr>
        <p:spPr>
          <a:xfrm>
            <a:off x="347472" y="1783080"/>
            <a:ext cx="4572000" cy="256032"/>
          </a:xfrm>
          <a:prstGeom prst="rect">
            <a:avLst/>
          </a:prstGeom>
          <a:noFill/>
          <a:ln/>
        </p:spPr>
        <p:txBody>
          <a:bodyPr anchor="ctr" bIns="0" lIns="0" numCol="1" rIns="0" rtlCol="0" tIns="0" wrap="square"/>
          <a:lstStyle/>
          <a:p>
            <a:pPr indent="0" marL="0">
              <a:buNone/>
            </a:pPr>
            <a:r>
              <a:rPr b="1" dirty="0" kern="0" lang="en-US" spc="200" sz="900">
                <a:solidFill>
                  <a:srgbClr val="00B4D8"/>
                </a:solidFill>
                <a:latin charset="0" pitchFamily="34" typeface="Calibri"/>
                <a:ea charset="-122" pitchFamily="34" typeface="Calibri"/>
                <a:cs charset="-120" pitchFamily="34" typeface="Calibri"/>
              </a:rPr>
              <a:t>CORE CODE LOGIC</a:t>
            </a:r>
            <a:endParaRPr dirty="0" lang="en-US" sz="900"/>
          </a:p>
        </p:txBody>
      </p:sp>
      <p:sp>
        <p:nvSpPr>
          <p:cNvPr id="25" name="Text 23"/>
          <p:cNvSpPr/>
          <p:nvPr/>
        </p:nvSpPr>
        <p:spPr>
          <a:xfrm>
            <a:off x="320040" y="2084832"/>
            <a:ext cx="4754880" cy="2468880"/>
          </a:xfrm>
          <a:prstGeom prst="rect">
            <a:avLst/>
          </a:prstGeom>
          <a:noFill/>
          <a:ln/>
        </p:spPr>
        <p:txBody>
          <a:bodyPr anchor="t" bIns="0" lIns="0" numCol="1" rIns="0" rtlCol="0" tIns="0" wrap="square"/>
          <a:lstStyle/>
          <a:p>
            <a:pPr indent="0" marL="0">
              <a:buNone/>
            </a:pPr>
            <a:r>
              <a:rPr b="1" dirty="0" lang="en-US" sz="1000">
                <a:solidFill>
                  <a:srgbClr val="00B4D8"/>
                </a:solidFill>
                <a:latin charset="0" pitchFamily="34" typeface="Courier New"/>
                <a:ea charset="-122" pitchFamily="34" typeface="Courier New"/>
                <a:cs charset="-120" pitchFamily="34" typeface="Courier New"/>
              </a:rPr>
              <a:t>SENTIMENT_URL</a:t>
            </a:r>
            <a:r>
              <a:rPr dirty="0" lang="en-US" sz="1000">
                <a:solidFill>
                  <a:srgbClr val="FFFFFF"/>
                </a:solidFill>
                <a:latin charset="0" pitchFamily="34" typeface="Courier New"/>
                <a:ea charset="-122" pitchFamily="34" typeface="Courier New"/>
                <a:cs charset="-120" pitchFamily="34" typeface="Courier New"/>
              </a:rPr>
              <a:t> = </a:t>
            </a:r>
            <a:r>
              <a:rPr dirty="0" lang="en-US" sz="1000">
                <a:solidFill>
                  <a:srgbClr val="00C48C"/>
                </a:solidFill>
                <a:latin charset="0" pitchFamily="34" typeface="Courier New"/>
                <a:ea charset="-122" pitchFamily="34" typeface="Courier New"/>
                <a:cs charset="-120" pitchFamily="34" typeface="Courier New"/>
              </a:rPr>
              <a:t>"https://router.huggingface.co/..."</a:t>
            </a:r>
            <a:r>
              <a:rPr dirty="0" lang="en-US" sz="1000">
                <a:solidFill>
                  <a:srgbClr val="000000"/>
                </a:solidFill>
                <a:latin charset="0" pitchFamily="34" typeface="Courier New"/>
                <a:ea charset="-122" pitchFamily="34" typeface="Courier New"/>
                <a:cs charset="-120" pitchFamily="34" typeface="Courier New"/>
              </a:rPr>
              <a:t>
</a:t>
            </a:r>
            <a:r>
              <a:rPr b="1" dirty="0" lang="en-US" sz="1000">
                <a:solidFill>
                  <a:srgbClr val="FF8C42"/>
                </a:solidFill>
                <a:latin charset="0" pitchFamily="34" typeface="Courier New"/>
                <a:ea charset="-122" pitchFamily="34" typeface="Courier New"/>
                <a:cs charset="-120" pitchFamily="34" typeface="Courier New"/>
              </a:rPr>
              <a:t>def </a:t>
            </a:r>
            <a:r>
              <a:rPr b="1" dirty="0" lang="en-US" sz="1000">
                <a:solidFill>
                  <a:srgbClr val="90E0EF"/>
                </a:solidFill>
                <a:latin charset="0" pitchFamily="34" typeface="Courier New"/>
                <a:ea charset="-122" pitchFamily="34" typeface="Courier New"/>
                <a:cs charset="-120" pitchFamily="34" typeface="Courier New"/>
              </a:rPr>
              <a:t>analyze_sentiment</a:t>
            </a:r>
            <a:r>
              <a:rPr dirty="0" lang="en-US" sz="1000">
                <a:solidFill>
                  <a:srgbClr val="FFFFFF"/>
                </a:solidFill>
                <a:latin charset="0" pitchFamily="34" typeface="Courier New"/>
                <a:ea charset="-122" pitchFamily="34" typeface="Courier New"/>
                <a:cs charset="-120" pitchFamily="34" typeface="Courier New"/>
              </a:rPr>
              <a:t>(text):</a:t>
            </a:r>
            <a:endParaRPr dirty="0" lang="en-US" sz="1000"/>
          </a:p>
          <a:p>
            <a:pPr indent="0" marL="0">
              <a:buNone/>
            </a:pPr>
            <a:r>
              <a:rPr dirty="0" lang="en-US" sz="1000">
                <a:solidFill>
                  <a:srgbClr val="FFFFFF"/>
                </a:solidFill>
                <a:latin charset="0" pitchFamily="34" typeface="Courier New"/>
                <a:ea charset="-122" pitchFamily="34" typeface="Courier New"/>
                <a:cs charset="-120" pitchFamily="34" typeface="Courier New"/>
              </a:rPr>
              <a:t>  response = requests.</a:t>
            </a:r>
            <a:endParaRPr dirty="0" lang="en-US" sz="1000"/>
          </a:p>
          <a:p>
            <a:pPr indent="0" marL="0">
              <a:buNone/>
            </a:pPr>
            <a:r>
              <a:rPr dirty="0" lang="en-US" sz="1000">
                <a:solidFill>
                  <a:srgbClr val="00B4D8"/>
                </a:solidFill>
                <a:latin charset="0" pitchFamily="34" typeface="Courier New"/>
                <a:ea charset="-122" pitchFamily="34" typeface="Courier New"/>
                <a:cs charset="-120" pitchFamily="34" typeface="Courier New"/>
              </a:rPr>
              <a:t>post</a:t>
            </a:r>
            <a:r>
              <a:rPr dirty="0" lang="en-US" sz="1000">
                <a:solidFill>
                  <a:srgbClr val="FFFFFF"/>
                </a:solidFill>
                <a:latin charset="0" pitchFamily="34" typeface="Courier New"/>
                <a:ea charset="-122" pitchFamily="34" typeface="Courier New"/>
                <a:cs charset="-120" pitchFamily="34" typeface="Courier New"/>
              </a:rPr>
              <a:t>(URL, headers, json)</a:t>
            </a:r>
            <a:endParaRPr dirty="0" lang="en-US" sz="1000"/>
          </a:p>
          <a:p>
            <a:pPr indent="0" marL="0">
              <a:buNone/>
            </a:pPr>
            <a:r>
              <a:rPr dirty="0" lang="en-US" sz="1000">
                <a:solidFill>
                  <a:srgbClr val="FFFFFF"/>
                </a:solidFill>
                <a:latin charset="0" pitchFamily="34" typeface="Courier New"/>
                <a:ea charset="-122" pitchFamily="34" typeface="Courier New"/>
                <a:cs charset="-120" pitchFamily="34" typeface="Courier New"/>
              </a:rPr>
              <a:t>  results = </a:t>
            </a:r>
            <a:endParaRPr dirty="0" lang="en-US" sz="1000"/>
          </a:p>
          <a:p>
            <a:pPr indent="0" marL="0">
              <a:buNone/>
            </a:pPr>
            <a:r>
              <a:rPr dirty="0" lang="en-US" sz="1000">
                <a:solidFill>
                  <a:srgbClr val="FF8C42"/>
                </a:solidFill>
                <a:latin charset="0" pitchFamily="34" typeface="Courier New"/>
                <a:ea charset="-122" pitchFamily="34" typeface="Courier New"/>
                <a:cs charset="-120" pitchFamily="34" typeface="Courier New"/>
              </a:rPr>
              <a:t>sorted</a:t>
            </a:r>
            <a:r>
              <a:rPr dirty="0" lang="en-US" sz="1000">
                <a:solidFill>
                  <a:srgbClr val="FFFFFF"/>
                </a:solidFill>
                <a:latin charset="0" pitchFamily="34" typeface="Courier New"/>
                <a:ea charset="-122" pitchFamily="34" typeface="Courier New"/>
                <a:cs charset="-120" pitchFamily="34" typeface="Courier New"/>
              </a:rPr>
              <a:t>(data[0], key=score)</a:t>
            </a:r>
            <a:endParaRPr dirty="0" lang="en-US" sz="1000"/>
          </a:p>
          <a:p>
            <a:pPr indent="0" marL="0">
              <a:buNone/>
            </a:pPr>
            <a:r>
              <a:rPr dirty="0" lang="en-US" sz="1000">
                <a:solidFill>
                  <a:srgbClr val="FFFFFF"/>
                </a:solidFill>
                <a:latin charset="0" pitchFamily="34" typeface="Courier New"/>
                <a:ea charset="-122" pitchFamily="34" typeface="Courier New"/>
                <a:cs charset="-120" pitchFamily="34" typeface="Courier New"/>
              </a:rPr>
              <a:t>  sentiment = </a:t>
            </a:r>
            <a:endParaRPr dirty="0" lang="en-US" sz="1000"/>
          </a:p>
          <a:p>
            <a:pPr indent="0" marL="0">
              <a:buNone/>
            </a:pPr>
            <a:r>
              <a:rPr dirty="0" lang="en-US" sz="1000">
                <a:solidFill>
                  <a:srgbClr val="00B4D8"/>
                </a:solidFill>
                <a:latin charset="0" pitchFamily="34" typeface="Courier New"/>
                <a:ea charset="-122" pitchFamily="34" typeface="Courier New"/>
                <a:cs charset="-120" pitchFamily="34" typeface="Courier New"/>
              </a:rPr>
              <a:t>clean_label</a:t>
            </a:r>
            <a:r>
              <a:rPr dirty="0" lang="en-US" sz="1000">
                <a:solidFill>
                  <a:srgbClr val="FFFFFF"/>
                </a:solidFill>
                <a:latin charset="0" pitchFamily="34" typeface="Courier New"/>
                <a:ea charset="-122" pitchFamily="34" typeface="Courier New"/>
                <a:cs charset="-120" pitchFamily="34" typeface="Courier New"/>
              </a:rPr>
              <a:t>(results[0])</a:t>
            </a:r>
            <a:endParaRPr dirty="0" lang="en-US" sz="1000"/>
          </a:p>
          <a:p>
            <a:pPr indent="0" marL="0">
              <a:buNone/>
            </a:pPr>
            <a:endParaRPr dirty="0" lang="en-US" sz="1000"/>
          </a:p>
          <a:p>
            <a:pPr indent="0" marL="0">
              <a:buNone/>
            </a:pPr>
            <a:r>
              <a:rPr b="1" dirty="0" lang="en-US" sz="1000">
                <a:solidFill>
                  <a:srgbClr val="FF8C42"/>
                </a:solidFill>
                <a:latin charset="0" pitchFamily="34" typeface="Courier New"/>
                <a:ea charset="-122" pitchFamily="34" typeface="Courier New"/>
                <a:cs charset="-120" pitchFamily="34" typeface="Courier New"/>
              </a:rPr>
              <a:t>def </a:t>
            </a:r>
            <a:endParaRPr dirty="0" lang="en-US" sz="1000"/>
          </a:p>
          <a:p>
            <a:pPr indent="0" marL="0">
              <a:buNone/>
            </a:pPr>
            <a:r>
              <a:rPr b="1" dirty="0" lang="en-US" sz="1000">
                <a:solidFill>
                  <a:srgbClr val="90E0EF"/>
                </a:solidFill>
                <a:latin charset="0" pitchFamily="34" typeface="Courier New"/>
                <a:ea charset="-122" pitchFamily="34" typeface="Courier New"/>
                <a:cs charset="-120" pitchFamily="34" typeface="Courier New"/>
              </a:rPr>
              <a:t>detect_emotion</a:t>
            </a:r>
            <a:r>
              <a:rPr dirty="0" lang="en-US" sz="1000">
                <a:solidFill>
                  <a:srgbClr val="FFFFFF"/>
                </a:solidFill>
                <a:latin charset="0" pitchFamily="34" typeface="Courier New"/>
                <a:ea charset="-122" pitchFamily="34" typeface="Courier New"/>
                <a:cs charset="-120" pitchFamily="34" typeface="Courier New"/>
              </a:rPr>
              <a:t>(text):</a:t>
            </a:r>
            <a:endParaRPr dirty="0" lang="en-US" sz="1000"/>
          </a:p>
          <a:p>
            <a:pPr indent="0" marL="0">
              <a:buNone/>
            </a:pPr>
            <a:r>
              <a:rPr dirty="0" lang="en-US" sz="1000">
                <a:solidFill>
                  <a:srgbClr val="FFFFFF"/>
                </a:solidFill>
                <a:latin charset="0" pitchFamily="34" typeface="Courier New"/>
                <a:ea charset="-122" pitchFamily="34" typeface="Courier New"/>
                <a:cs charset="-120" pitchFamily="34" typeface="Courier New"/>
              </a:rPr>
              <a:t>  emotions = </a:t>
            </a:r>
            <a:endParaRPr dirty="0" lang="en-US" sz="1000"/>
          </a:p>
          <a:p>
            <a:pPr indent="0" marL="0">
              <a:buNone/>
            </a:pPr>
            <a:r>
              <a:rPr dirty="0" lang="en-US" sz="1000">
                <a:solidFill>
                  <a:srgbClr val="FF8C42"/>
                </a:solidFill>
                <a:latin charset="0" pitchFamily="34" typeface="Courier New"/>
                <a:ea charset="-122" pitchFamily="34" typeface="Courier New"/>
                <a:cs charset="-120" pitchFamily="34" typeface="Courier New"/>
              </a:rPr>
              <a:t>sorted</a:t>
            </a:r>
            <a:r>
              <a:rPr dirty="0" lang="en-US" sz="1000">
                <a:solidFill>
                  <a:srgbClr val="FFFFFF"/>
                </a:solidFill>
                <a:latin charset="0" pitchFamily="34" typeface="Courier New"/>
                <a:ea charset="-122" pitchFamily="34" typeface="Courier New"/>
                <a:cs charset="-120" pitchFamily="34" typeface="Courier New"/>
              </a:rPr>
              <a:t>(data[0], key=score)</a:t>
            </a:r>
            <a:endParaRPr dirty="0" lang="en-US" sz="1000"/>
          </a:p>
          <a:p>
            <a:pPr indent="0" marL="0">
              <a:buNone/>
            </a:pPr>
            <a:r>
              <a:rPr dirty="0" lang="en-US" sz="1000">
                <a:solidFill>
                  <a:srgbClr val="FFFFFF"/>
                </a:solidFill>
                <a:latin charset="0" pitchFamily="34" typeface="Courier New"/>
                <a:ea charset="-122" pitchFamily="34" typeface="Courier New"/>
                <a:cs charset="-120" pitchFamily="34" typeface="Courier New"/>
              </a:rPr>
              <a:t>  top_emotion = emotions[0]</a:t>
            </a:r>
            <a:endParaRPr dirty="0" lang="en-US" sz="1000"/>
          </a:p>
        </p:txBody>
      </p:sp>
      <p:sp>
        <p:nvSpPr>
          <p:cNvPr id="26" name="Text 24"/>
          <p:cNvSpPr/>
          <p:nvPr/>
        </p:nvSpPr>
        <p:spPr>
          <a:xfrm>
            <a:off x="5349240" y="1792224"/>
            <a:ext cx="1188720" cy="27432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Model:</a:t>
            </a:r>
            <a:endParaRPr dirty="0" lang="en-US" sz="900"/>
          </a:p>
        </p:txBody>
      </p:sp>
      <p:sp>
        <p:nvSpPr>
          <p:cNvPr id="27" name="Text 25"/>
          <p:cNvSpPr/>
          <p:nvPr/>
        </p:nvSpPr>
        <p:spPr>
          <a:xfrm>
            <a:off x="6583680" y="1792224"/>
            <a:ext cx="2377440" cy="274320"/>
          </a:xfrm>
          <a:prstGeom prst="rect">
            <a:avLst/>
          </a:prstGeom>
          <a:noFill/>
          <a:ln/>
        </p:spPr>
        <p:txBody>
          <a:bodyPr anchor="ctr" bIns="0" lIns="0" numCol="1" rIns="0" rtlCol="0" tIns="0" wrap="square"/>
          <a:lstStyle/>
          <a:p>
            <a:pPr indent="0" marL="0">
              <a:buNone/>
            </a:pPr>
            <a:r>
              <a:rPr dirty="0" lang="en-US" sz="900">
                <a:solidFill>
                  <a:srgbClr val="90E0EF"/>
                </a:solidFill>
                <a:latin charset="0" pitchFamily="34" typeface="Calibri"/>
                <a:ea charset="-122" pitchFamily="34" typeface="Calibri"/>
                <a:cs charset="-120" pitchFamily="34" typeface="Calibri"/>
              </a:rPr>
              <a:t>cardiffnlp/twitter-roberta-base-sentiment-latest</a:t>
            </a:r>
            <a:endParaRPr dirty="0" lang="en-US" sz="900"/>
          </a:p>
        </p:txBody>
      </p:sp>
      <p:sp>
        <p:nvSpPr>
          <p:cNvPr id="28" name="Shape 26"/>
          <p:cNvSpPr/>
          <p:nvPr/>
        </p:nvSpPr>
        <p:spPr>
          <a:xfrm>
            <a:off x="5349240" y="2176272"/>
            <a:ext cx="3611880" cy="18288"/>
          </a:xfrm>
          <a:prstGeom prst="rect">
            <a:avLst/>
          </a:prstGeom>
          <a:solidFill>
            <a:srgbClr val="1A3A6B"/>
          </a:solidFill>
          <a:ln w="12700">
            <a:solidFill>
              <a:srgbClr val="1A3A6B"/>
            </a:solidFill>
            <a:prstDash val="solid"/>
          </a:ln>
        </p:spPr>
      </p:sp>
      <p:sp>
        <p:nvSpPr>
          <p:cNvPr id="29" name="Text 27"/>
          <p:cNvSpPr/>
          <p:nvPr/>
        </p:nvSpPr>
        <p:spPr>
          <a:xfrm>
            <a:off x="5349240" y="2276856"/>
            <a:ext cx="1188720" cy="27432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Labels:</a:t>
            </a:r>
            <a:endParaRPr dirty="0" lang="en-US" sz="900"/>
          </a:p>
        </p:txBody>
      </p:sp>
      <p:sp>
        <p:nvSpPr>
          <p:cNvPr id="30" name="Text 28"/>
          <p:cNvSpPr/>
          <p:nvPr/>
        </p:nvSpPr>
        <p:spPr>
          <a:xfrm>
            <a:off x="6583680" y="2276856"/>
            <a:ext cx="2377440" cy="274320"/>
          </a:xfrm>
          <a:prstGeom prst="rect">
            <a:avLst/>
          </a:prstGeom>
          <a:noFill/>
          <a:ln/>
        </p:spPr>
        <p:txBody>
          <a:bodyPr anchor="ctr" bIns="0" lIns="0" numCol="1" rIns="0" rtlCol="0" tIns="0" wrap="square"/>
          <a:lstStyle/>
          <a:p>
            <a:pPr indent="0" marL="0">
              <a:buNone/>
            </a:pPr>
            <a:r>
              <a:rPr dirty="0" lang="en-US" sz="900">
                <a:solidFill>
                  <a:srgbClr val="90E0EF"/>
                </a:solidFill>
                <a:latin charset="0" pitchFamily="34" typeface="Calibri"/>
                <a:ea charset="-122" pitchFamily="34" typeface="Calibri"/>
                <a:cs charset="-120" pitchFamily="34" typeface="Calibri"/>
              </a:rPr>
              <a:t>POSITIVE / NEUTRAL / NEGATIVE</a:t>
            </a:r>
            <a:endParaRPr dirty="0" lang="en-US" sz="900"/>
          </a:p>
        </p:txBody>
      </p:sp>
      <p:sp>
        <p:nvSpPr>
          <p:cNvPr id="31" name="Shape 29"/>
          <p:cNvSpPr/>
          <p:nvPr/>
        </p:nvSpPr>
        <p:spPr>
          <a:xfrm>
            <a:off x="5349240" y="2660904"/>
            <a:ext cx="3611880" cy="18288"/>
          </a:xfrm>
          <a:prstGeom prst="rect">
            <a:avLst/>
          </a:prstGeom>
          <a:solidFill>
            <a:srgbClr val="1A3A6B"/>
          </a:solidFill>
          <a:ln w="12700">
            <a:solidFill>
              <a:srgbClr val="1A3A6B"/>
            </a:solidFill>
            <a:prstDash val="solid"/>
          </a:ln>
        </p:spPr>
      </p:sp>
      <p:sp>
        <p:nvSpPr>
          <p:cNvPr id="32" name="Text 30"/>
          <p:cNvSpPr/>
          <p:nvPr/>
        </p:nvSpPr>
        <p:spPr>
          <a:xfrm>
            <a:off x="5349240" y="2761488"/>
            <a:ext cx="1188720" cy="27432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Emotion Model:</a:t>
            </a:r>
            <a:endParaRPr dirty="0" lang="en-US" sz="900"/>
          </a:p>
        </p:txBody>
      </p:sp>
      <p:sp>
        <p:nvSpPr>
          <p:cNvPr id="33" name="Text 31"/>
          <p:cNvSpPr/>
          <p:nvPr/>
        </p:nvSpPr>
        <p:spPr>
          <a:xfrm>
            <a:off x="6583680" y="2761488"/>
            <a:ext cx="2377440" cy="274320"/>
          </a:xfrm>
          <a:prstGeom prst="rect">
            <a:avLst/>
          </a:prstGeom>
          <a:noFill/>
          <a:ln/>
        </p:spPr>
        <p:txBody>
          <a:bodyPr anchor="ctr" bIns="0" lIns="0" numCol="1" rIns="0" rtlCol="0" tIns="0" wrap="square"/>
          <a:lstStyle/>
          <a:p>
            <a:pPr indent="0" marL="0">
              <a:buNone/>
            </a:pPr>
            <a:r>
              <a:rPr dirty="0" lang="en-US" sz="900">
                <a:solidFill>
                  <a:srgbClr val="90E0EF"/>
                </a:solidFill>
                <a:latin charset="0" pitchFamily="34" typeface="Calibri"/>
                <a:ea charset="-122" pitchFamily="34" typeface="Calibri"/>
                <a:cs charset="-120" pitchFamily="34" typeface="Calibri"/>
              </a:rPr>
              <a:t>j-hartmann/emotion-english-distilroberta-base</a:t>
            </a:r>
            <a:endParaRPr dirty="0" lang="en-US" sz="900"/>
          </a:p>
        </p:txBody>
      </p:sp>
      <p:sp>
        <p:nvSpPr>
          <p:cNvPr id="34" name="Shape 32"/>
          <p:cNvSpPr/>
          <p:nvPr/>
        </p:nvSpPr>
        <p:spPr>
          <a:xfrm>
            <a:off x="5349240" y="3145536"/>
            <a:ext cx="3611880" cy="18288"/>
          </a:xfrm>
          <a:prstGeom prst="rect">
            <a:avLst/>
          </a:prstGeom>
          <a:solidFill>
            <a:srgbClr val="1A3A6B"/>
          </a:solidFill>
          <a:ln w="12700">
            <a:solidFill>
              <a:srgbClr val="1A3A6B"/>
            </a:solidFill>
            <a:prstDash val="solid"/>
          </a:ln>
        </p:spPr>
      </p:sp>
      <p:sp>
        <p:nvSpPr>
          <p:cNvPr id="35" name="Text 33"/>
          <p:cNvSpPr/>
          <p:nvPr/>
        </p:nvSpPr>
        <p:spPr>
          <a:xfrm>
            <a:off x="5349240" y="3246120"/>
            <a:ext cx="1188720" cy="27432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Emotions:</a:t>
            </a:r>
            <a:endParaRPr dirty="0" lang="en-US" sz="900"/>
          </a:p>
        </p:txBody>
      </p:sp>
      <p:sp>
        <p:nvSpPr>
          <p:cNvPr id="36" name="Text 34"/>
          <p:cNvSpPr/>
          <p:nvPr/>
        </p:nvSpPr>
        <p:spPr>
          <a:xfrm>
            <a:off x="6583680" y="3246120"/>
            <a:ext cx="2377440" cy="274320"/>
          </a:xfrm>
          <a:prstGeom prst="rect">
            <a:avLst/>
          </a:prstGeom>
          <a:noFill/>
          <a:ln/>
        </p:spPr>
        <p:txBody>
          <a:bodyPr anchor="ctr" bIns="0" lIns="0" numCol="1" rIns="0" rtlCol="0" tIns="0" wrap="square"/>
          <a:lstStyle/>
          <a:p>
            <a:pPr indent="0" marL="0">
              <a:buNone/>
            </a:pPr>
            <a:r>
              <a:rPr dirty="0" lang="en-US" sz="900">
                <a:solidFill>
                  <a:srgbClr val="90E0EF"/>
                </a:solidFill>
                <a:latin charset="0" pitchFamily="34" typeface="Calibri"/>
                <a:ea charset="-122" pitchFamily="34" typeface="Calibri"/>
                <a:cs charset="-120" pitchFamily="34" typeface="Calibri"/>
              </a:rPr>
              <a:t>Joy, Anger, Fear, Sadness, Disgust, Surprise, Neutral</a:t>
            </a:r>
            <a:endParaRPr dirty="0" lang="en-US" sz="900"/>
          </a:p>
        </p:txBody>
      </p:sp>
      <p:sp>
        <p:nvSpPr>
          <p:cNvPr id="37" name="Shape 35"/>
          <p:cNvSpPr/>
          <p:nvPr/>
        </p:nvSpPr>
        <p:spPr>
          <a:xfrm>
            <a:off x="5349240" y="3630168"/>
            <a:ext cx="3611880" cy="18288"/>
          </a:xfrm>
          <a:prstGeom prst="rect">
            <a:avLst/>
          </a:prstGeom>
          <a:solidFill>
            <a:srgbClr val="1A3A6B"/>
          </a:solidFill>
          <a:ln w="12700">
            <a:solidFill>
              <a:srgbClr val="1A3A6B"/>
            </a:solidFill>
            <a:prstDash val="solid"/>
          </a:ln>
        </p:spPr>
      </p:sp>
      <p:sp>
        <p:nvSpPr>
          <p:cNvPr id="38" name="Text 36"/>
          <p:cNvSpPr/>
          <p:nvPr/>
        </p:nvSpPr>
        <p:spPr>
          <a:xfrm>
            <a:off x="5349240" y="3730752"/>
            <a:ext cx="1188720" cy="27432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Platform:</a:t>
            </a:r>
            <a:endParaRPr dirty="0" lang="en-US" sz="900"/>
          </a:p>
        </p:txBody>
      </p:sp>
      <p:sp>
        <p:nvSpPr>
          <p:cNvPr id="39" name="Text 37"/>
          <p:cNvSpPr/>
          <p:nvPr/>
        </p:nvSpPr>
        <p:spPr>
          <a:xfrm>
            <a:off x="6583680" y="3730752"/>
            <a:ext cx="2377440" cy="274320"/>
          </a:xfrm>
          <a:prstGeom prst="rect">
            <a:avLst/>
          </a:prstGeom>
          <a:noFill/>
          <a:ln/>
        </p:spPr>
        <p:txBody>
          <a:bodyPr anchor="ctr" bIns="0" lIns="0" numCol="1" rIns="0" rtlCol="0" tIns="0" wrap="square"/>
          <a:lstStyle/>
          <a:p>
            <a:pPr indent="0" marL="0">
              <a:buNone/>
            </a:pPr>
            <a:r>
              <a:rPr dirty="0" lang="en-US" sz="900">
                <a:solidFill>
                  <a:srgbClr val="90E0EF"/>
                </a:solidFill>
                <a:latin charset="0" pitchFamily="34" typeface="Calibri"/>
                <a:ea charset="-122" pitchFamily="34" typeface="Calibri"/>
                <a:cs charset="-120" pitchFamily="34" typeface="Calibri"/>
              </a:rPr>
              <a:t>Kaggle Notebooks (cloud, free)</a:t>
            </a:r>
            <a:endParaRPr dirty="0" lang="en-US" sz="900"/>
          </a:p>
        </p:txBody>
      </p:sp>
      <p:sp>
        <p:nvSpPr>
          <p:cNvPr id="40" name="Shape 38"/>
          <p:cNvSpPr/>
          <p:nvPr/>
        </p:nvSpPr>
        <p:spPr>
          <a:xfrm>
            <a:off x="5349240" y="4114800"/>
            <a:ext cx="3611880" cy="18288"/>
          </a:xfrm>
          <a:prstGeom prst="rect">
            <a:avLst/>
          </a:prstGeom>
          <a:solidFill>
            <a:srgbClr val="1A3A6B"/>
          </a:solidFill>
          <a:ln w="12700">
            <a:solidFill>
              <a:srgbClr val="1A3A6B"/>
            </a:solidFill>
            <a:prstDash val="solid"/>
          </a:ln>
        </p:spPr>
      </p:sp>
      <p:sp>
        <p:nvSpPr>
          <p:cNvPr id="41" name="Text 39"/>
          <p:cNvSpPr/>
          <p:nvPr/>
        </p:nvSpPr>
        <p:spPr>
          <a:xfrm>
            <a:off x="5349240" y="4215384"/>
            <a:ext cx="1188720" cy="274320"/>
          </a:xfrm>
          <a:prstGeom prst="rect">
            <a:avLst/>
          </a:prstGeom>
          <a:noFill/>
          <a:ln/>
        </p:spPr>
        <p:txBody>
          <a:bodyPr anchor="ctr" bIns="0" lIns="0" numCol="1" rIns="0" rtlCol="0" tIns="0" wrap="square"/>
          <a:lstStyle/>
          <a:p>
            <a:pPr indent="0" marL="0">
              <a:buNone/>
            </a:pPr>
            <a:r>
              <a:rPr b="1" dirty="0" lang="en-US" sz="900">
                <a:solidFill>
                  <a:srgbClr val="00B4D8"/>
                </a:solidFill>
                <a:latin charset="0" pitchFamily="34" typeface="Calibri"/>
                <a:ea charset="-122" pitchFamily="34" typeface="Calibri"/>
                <a:cs charset="-120" pitchFamily="34" typeface="Calibri"/>
              </a:rPr>
              <a:t>Auth:</a:t>
            </a:r>
            <a:endParaRPr dirty="0" lang="en-US" sz="900"/>
          </a:p>
        </p:txBody>
      </p:sp>
      <p:sp>
        <p:nvSpPr>
          <p:cNvPr id="42" name="Text 40"/>
          <p:cNvSpPr/>
          <p:nvPr/>
        </p:nvSpPr>
        <p:spPr>
          <a:xfrm>
            <a:off x="6583680" y="4215384"/>
            <a:ext cx="2377440" cy="274320"/>
          </a:xfrm>
          <a:prstGeom prst="rect">
            <a:avLst/>
          </a:prstGeom>
          <a:noFill/>
          <a:ln/>
        </p:spPr>
        <p:txBody>
          <a:bodyPr anchor="ctr" bIns="0" lIns="0" numCol="1" rIns="0" rtlCol="0" tIns="0" wrap="square"/>
          <a:lstStyle/>
          <a:p>
            <a:pPr indent="0" marL="0">
              <a:buNone/>
            </a:pPr>
            <a:r>
              <a:rPr dirty="0" lang="en-US" sz="900">
                <a:solidFill>
                  <a:srgbClr val="90E0EF"/>
                </a:solidFill>
                <a:latin charset="0" pitchFamily="34" typeface="Calibri"/>
                <a:ea charset="-122" pitchFamily="34" typeface="Calibri"/>
                <a:cs charset="-120" pitchFamily="34" typeface="Calibri"/>
              </a:rPr>
              <a:t>Hugging Face Bearer Token via Kaggle Secrets</a:t>
            </a:r>
            <a:endParaRPr dirty="0"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Result — Output</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Text 6"/>
          <p:cNvSpPr/>
          <p:nvPr/>
        </p:nvSpPr>
        <p:spPr>
          <a:xfrm>
            <a:off x="228600" y="914400"/>
            <a:ext cx="8686800" cy="320040"/>
          </a:xfrm>
          <a:prstGeom prst="rect">
            <a:avLst/>
          </a:prstGeom>
          <a:noFill/>
          <a:ln/>
        </p:spPr>
        <p:txBody>
          <a:bodyPr anchor="ctr" bIns="0" lIns="0" numCol="1" rIns="0" rtlCol="0" tIns="0" wrap="square"/>
          <a:lstStyle/>
          <a:p>
            <a:pPr indent="0" marL="0">
              <a:buNone/>
            </a:pPr>
            <a:r>
              <a:rPr dirty="0" lang="en-US" sz="1100">
                <a:solidFill>
                  <a:srgbClr val="8EAAD4"/>
                </a:solidFill>
                <a:latin charset="0" pitchFamily="34" typeface="Calibri"/>
                <a:ea charset="-122" pitchFamily="34" typeface="Calibri"/>
                <a:cs charset="-120" pitchFamily="34" typeface="Calibri"/>
              </a:rPr>
              <a:t>Sample output from running sentiment_analyzer.py on 5 test sentences:</a:t>
            </a:r>
            <a:endParaRPr dirty="0" lang="en-US" sz="1100"/>
          </a:p>
        </p:txBody>
      </p:sp>
      <p:sp>
        <p:nvSpPr>
          <p:cNvPr id="9" name="Shape 7"/>
          <p:cNvSpPr/>
          <p:nvPr/>
        </p:nvSpPr>
        <p:spPr>
          <a:xfrm>
            <a:off x="182880" y="1298448"/>
            <a:ext cx="8778240" cy="62179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0" name="Shape 8"/>
          <p:cNvSpPr/>
          <p:nvPr/>
        </p:nvSpPr>
        <p:spPr>
          <a:xfrm>
            <a:off x="182880" y="1298448"/>
            <a:ext cx="1097280" cy="621792"/>
          </a:xfrm>
          <a:prstGeom prst="rect">
            <a:avLst/>
          </a:prstGeom>
          <a:solidFill>
            <a:srgbClr val="00C48C"/>
          </a:solidFill>
          <a:ln w="12700">
            <a:solidFill>
              <a:srgbClr val="00C48C"/>
            </a:solidFill>
            <a:prstDash val="solid"/>
          </a:ln>
        </p:spPr>
      </p:sp>
      <p:sp>
        <p:nvSpPr>
          <p:cNvPr id="11" name="Text 9"/>
          <p:cNvSpPr/>
          <p:nvPr/>
        </p:nvSpPr>
        <p:spPr>
          <a:xfrm>
            <a:off x="182880" y="1298448"/>
            <a:ext cx="1097280" cy="621792"/>
          </a:xfrm>
          <a:prstGeom prst="rect">
            <a:avLst/>
          </a:prstGeom>
          <a:noFill/>
          <a:ln/>
        </p:spPr>
        <p:txBody>
          <a:bodyPr anchor="ctr" bIns="0" lIns="0" numCol="1" rIns="0" rtlCol="0" tIns="0" wrap="square"/>
          <a:lstStyle/>
          <a:p>
            <a:pPr algn="ctr" indent="0" marL="0">
              <a:buNone/>
            </a:pPr>
            <a:r>
              <a:rPr b="1" dirty="0" lang="en-US" sz="900">
                <a:solidFill>
                  <a:srgbClr val="0A1628"/>
                </a:solidFill>
                <a:latin charset="0" pitchFamily="34" typeface="Calibri"/>
                <a:ea charset="-122" pitchFamily="34" typeface="Calibri"/>
                <a:cs charset="-120" pitchFamily="34" typeface="Calibri"/>
              </a:rPr>
              <a:t>POSITIVE</a:t>
            </a:r>
            <a:endParaRPr dirty="0" lang="en-US" sz="900"/>
          </a:p>
        </p:txBody>
      </p:sp>
      <p:sp>
        <p:nvSpPr>
          <p:cNvPr id="12" name="Text 10"/>
          <p:cNvSpPr/>
          <p:nvPr/>
        </p:nvSpPr>
        <p:spPr>
          <a:xfrm>
            <a:off x="1371600" y="1344168"/>
            <a:ext cx="4389120" cy="274320"/>
          </a:xfrm>
          <a:prstGeom prst="rect">
            <a:avLst/>
          </a:prstGeom>
          <a:noFill/>
          <a:ln/>
        </p:spPr>
        <p:txBody>
          <a:bodyPr anchor="ctr" bIns="0" lIns="0" numCol="1" rIns="0" rtlCol="0" tIns="0" wrap="square"/>
          <a:lstStyle/>
          <a:p>
            <a:pPr indent="0" marL="0">
              <a:buNone/>
            </a:pPr>
            <a:r>
              <a:rPr dirty="0" lang="en-US" sz="1000">
                <a:solidFill>
                  <a:srgbClr val="FFFFFF"/>
                </a:solidFill>
                <a:latin charset="0" pitchFamily="34" typeface="Calibri"/>
                <a:ea charset="-122" pitchFamily="34" typeface="Calibri"/>
                <a:cs charset="-120" pitchFamily="34" typeface="Calibri"/>
              </a:rPr>
              <a:t>I absolutely love Microsoft Azure and AI technologies!</a:t>
            </a:r>
            <a:endParaRPr dirty="0" lang="en-US" sz="1000"/>
          </a:p>
        </p:txBody>
      </p:sp>
      <p:sp>
        <p:nvSpPr>
          <p:cNvPr id="13" name="Text 11"/>
          <p:cNvSpPr/>
          <p:nvPr/>
        </p:nvSpPr>
        <p:spPr>
          <a:xfrm>
            <a:off x="5989320" y="1344168"/>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POS</a:t>
            </a:r>
            <a:endParaRPr dirty="0" lang="en-US" sz="700"/>
          </a:p>
        </p:txBody>
      </p:sp>
      <p:sp>
        <p:nvSpPr>
          <p:cNvPr id="14" name="Shape 12"/>
          <p:cNvSpPr/>
          <p:nvPr/>
        </p:nvSpPr>
        <p:spPr>
          <a:xfrm>
            <a:off x="5989320" y="1554480"/>
            <a:ext cx="822960" cy="109728"/>
          </a:xfrm>
          <a:prstGeom prst="rect">
            <a:avLst/>
          </a:prstGeom>
          <a:solidFill>
            <a:srgbClr val="1A3A6B"/>
          </a:solidFill>
          <a:ln w="12700">
            <a:solidFill>
              <a:srgbClr val="1A3A6B"/>
            </a:solidFill>
            <a:prstDash val="solid"/>
          </a:ln>
        </p:spPr>
      </p:sp>
      <p:sp>
        <p:nvSpPr>
          <p:cNvPr id="15" name="Shape 13"/>
          <p:cNvSpPr/>
          <p:nvPr/>
        </p:nvSpPr>
        <p:spPr>
          <a:xfrm>
            <a:off x="5989320" y="1554480"/>
            <a:ext cx="806501" cy="109728"/>
          </a:xfrm>
          <a:prstGeom prst="rect">
            <a:avLst/>
          </a:prstGeom>
          <a:solidFill>
            <a:srgbClr val="00C48C"/>
          </a:solidFill>
          <a:ln w="12700">
            <a:solidFill>
              <a:srgbClr val="00C48C"/>
            </a:solidFill>
            <a:prstDash val="solid"/>
          </a:ln>
        </p:spPr>
      </p:sp>
      <p:sp>
        <p:nvSpPr>
          <p:cNvPr id="16" name="Text 14"/>
          <p:cNvSpPr/>
          <p:nvPr/>
        </p:nvSpPr>
        <p:spPr>
          <a:xfrm>
            <a:off x="5989320" y="1691640"/>
            <a:ext cx="822960" cy="164592"/>
          </a:xfrm>
          <a:prstGeom prst="rect">
            <a:avLst/>
          </a:prstGeom>
          <a:noFill/>
          <a:ln/>
        </p:spPr>
        <p:txBody>
          <a:bodyPr anchor="ctr" bIns="0" lIns="0" numCol="1" rIns="0" rtlCol="0" tIns="0" wrap="square"/>
          <a:lstStyle/>
          <a:p>
            <a:pPr algn="ctr" indent="0" marL="0">
              <a:buNone/>
            </a:pPr>
            <a:r>
              <a:rPr dirty="0" lang="en-US" sz="800">
                <a:solidFill>
                  <a:srgbClr val="00C48C"/>
                </a:solidFill>
                <a:latin charset="0" pitchFamily="34" typeface="Calibri"/>
                <a:ea charset="-122" pitchFamily="34" typeface="Calibri"/>
                <a:cs charset="-120" pitchFamily="34" typeface="Calibri"/>
              </a:rPr>
              <a:t>98%</a:t>
            </a:r>
            <a:endParaRPr dirty="0" lang="en-US" sz="800"/>
          </a:p>
        </p:txBody>
      </p:sp>
      <p:sp>
        <p:nvSpPr>
          <p:cNvPr id="17" name="Text 15"/>
          <p:cNvSpPr/>
          <p:nvPr/>
        </p:nvSpPr>
        <p:spPr>
          <a:xfrm>
            <a:off x="6949440" y="1344168"/>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NEU</a:t>
            </a:r>
            <a:endParaRPr dirty="0" lang="en-US" sz="700"/>
          </a:p>
        </p:txBody>
      </p:sp>
      <p:sp>
        <p:nvSpPr>
          <p:cNvPr id="18" name="Shape 16"/>
          <p:cNvSpPr/>
          <p:nvPr/>
        </p:nvSpPr>
        <p:spPr>
          <a:xfrm>
            <a:off x="6949440" y="1554480"/>
            <a:ext cx="822960" cy="109728"/>
          </a:xfrm>
          <a:prstGeom prst="rect">
            <a:avLst/>
          </a:prstGeom>
          <a:solidFill>
            <a:srgbClr val="1A3A6B"/>
          </a:solidFill>
          <a:ln w="12700">
            <a:solidFill>
              <a:srgbClr val="1A3A6B"/>
            </a:solidFill>
            <a:prstDash val="solid"/>
          </a:ln>
        </p:spPr>
      </p:sp>
      <p:sp>
        <p:nvSpPr>
          <p:cNvPr id="19" name="Shape 17"/>
          <p:cNvSpPr/>
          <p:nvPr/>
        </p:nvSpPr>
        <p:spPr>
          <a:xfrm>
            <a:off x="6949440" y="1554480"/>
            <a:ext cx="8230" cy="109728"/>
          </a:xfrm>
          <a:prstGeom prst="rect">
            <a:avLst/>
          </a:prstGeom>
          <a:solidFill>
            <a:srgbClr val="6B7280"/>
          </a:solidFill>
          <a:ln w="12700">
            <a:solidFill>
              <a:srgbClr val="6B7280"/>
            </a:solidFill>
            <a:prstDash val="solid"/>
          </a:ln>
        </p:spPr>
      </p:sp>
      <p:sp>
        <p:nvSpPr>
          <p:cNvPr id="20" name="Text 18"/>
          <p:cNvSpPr/>
          <p:nvPr/>
        </p:nvSpPr>
        <p:spPr>
          <a:xfrm>
            <a:off x="6949440" y="1691640"/>
            <a:ext cx="822960" cy="164592"/>
          </a:xfrm>
          <a:prstGeom prst="rect">
            <a:avLst/>
          </a:prstGeom>
          <a:noFill/>
          <a:ln/>
        </p:spPr>
        <p:txBody>
          <a:bodyPr anchor="ctr" bIns="0" lIns="0" numCol="1" rIns="0" rtlCol="0" tIns="0" wrap="square"/>
          <a:lstStyle/>
          <a:p>
            <a:pPr algn="ctr" indent="0" marL="0">
              <a:buNone/>
            </a:pPr>
            <a:r>
              <a:rPr dirty="0" lang="en-US" sz="800">
                <a:solidFill>
                  <a:srgbClr val="6B7280"/>
                </a:solidFill>
                <a:latin charset="0" pitchFamily="34" typeface="Calibri"/>
                <a:ea charset="-122" pitchFamily="34" typeface="Calibri"/>
                <a:cs charset="-120" pitchFamily="34" typeface="Calibri"/>
              </a:rPr>
              <a:t>1%</a:t>
            </a:r>
            <a:endParaRPr dirty="0" lang="en-US" sz="800"/>
          </a:p>
        </p:txBody>
      </p:sp>
      <p:sp>
        <p:nvSpPr>
          <p:cNvPr id="21" name="Text 19"/>
          <p:cNvSpPr/>
          <p:nvPr/>
        </p:nvSpPr>
        <p:spPr>
          <a:xfrm>
            <a:off x="7909560" y="1344168"/>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NEG</a:t>
            </a:r>
            <a:endParaRPr dirty="0" lang="en-US" sz="700"/>
          </a:p>
        </p:txBody>
      </p:sp>
      <p:sp>
        <p:nvSpPr>
          <p:cNvPr id="22" name="Shape 20"/>
          <p:cNvSpPr/>
          <p:nvPr/>
        </p:nvSpPr>
        <p:spPr>
          <a:xfrm>
            <a:off x="7909560" y="1554480"/>
            <a:ext cx="822960" cy="109728"/>
          </a:xfrm>
          <a:prstGeom prst="rect">
            <a:avLst/>
          </a:prstGeom>
          <a:solidFill>
            <a:srgbClr val="1A3A6B"/>
          </a:solidFill>
          <a:ln w="12700">
            <a:solidFill>
              <a:srgbClr val="1A3A6B"/>
            </a:solidFill>
            <a:prstDash val="solid"/>
          </a:ln>
        </p:spPr>
      </p:sp>
      <p:sp>
        <p:nvSpPr>
          <p:cNvPr id="23" name="Shape 21"/>
          <p:cNvSpPr/>
          <p:nvPr/>
        </p:nvSpPr>
        <p:spPr>
          <a:xfrm>
            <a:off x="7909560" y="1554480"/>
            <a:ext cx="8230" cy="109728"/>
          </a:xfrm>
          <a:prstGeom prst="rect">
            <a:avLst/>
          </a:prstGeom>
          <a:solidFill>
            <a:srgbClr val="EF4444"/>
          </a:solidFill>
          <a:ln w="12700">
            <a:solidFill>
              <a:srgbClr val="EF4444"/>
            </a:solidFill>
            <a:prstDash val="solid"/>
          </a:ln>
        </p:spPr>
      </p:sp>
      <p:sp>
        <p:nvSpPr>
          <p:cNvPr id="24" name="Text 22"/>
          <p:cNvSpPr/>
          <p:nvPr/>
        </p:nvSpPr>
        <p:spPr>
          <a:xfrm>
            <a:off x="7909560" y="1691640"/>
            <a:ext cx="822960" cy="164592"/>
          </a:xfrm>
          <a:prstGeom prst="rect">
            <a:avLst/>
          </a:prstGeom>
          <a:noFill/>
          <a:ln/>
        </p:spPr>
        <p:txBody>
          <a:bodyPr anchor="ctr" bIns="0" lIns="0" numCol="1" rIns="0" rtlCol="0" tIns="0" wrap="square"/>
          <a:lstStyle/>
          <a:p>
            <a:pPr algn="ctr" indent="0" marL="0">
              <a:buNone/>
            </a:pPr>
            <a:r>
              <a:rPr dirty="0" lang="en-US" sz="800">
                <a:solidFill>
                  <a:srgbClr val="EF4444"/>
                </a:solidFill>
                <a:latin charset="0" pitchFamily="34" typeface="Calibri"/>
                <a:ea charset="-122" pitchFamily="34" typeface="Calibri"/>
                <a:cs charset="-120" pitchFamily="34" typeface="Calibri"/>
              </a:rPr>
              <a:t>1%</a:t>
            </a:r>
            <a:endParaRPr dirty="0" lang="en-US" sz="800"/>
          </a:p>
        </p:txBody>
      </p:sp>
      <p:sp>
        <p:nvSpPr>
          <p:cNvPr id="25" name="Text 23"/>
          <p:cNvSpPr/>
          <p:nvPr/>
        </p:nvSpPr>
        <p:spPr>
          <a:xfrm>
            <a:off x="1371600" y="1645920"/>
            <a:ext cx="2286000" cy="219456"/>
          </a:xfrm>
          <a:prstGeom prst="rect">
            <a:avLst/>
          </a:prstGeom>
          <a:noFill/>
          <a:ln/>
        </p:spPr>
        <p:txBody>
          <a:bodyPr anchor="ctr" bIns="0" lIns="0" numCol="1" rIns="0" rtlCol="0" tIns="0" wrap="square"/>
          <a:lstStyle/>
          <a:p>
            <a:pPr indent="0" marL="0">
              <a:buNone/>
            </a:pPr>
            <a:r>
              <a:rPr b="1" dirty="0" lang="en-US" sz="900">
                <a:solidFill>
                  <a:srgbClr val="FF8C42"/>
                </a:solidFill>
                <a:latin charset="0" pitchFamily="34" typeface="Calibri"/>
                <a:ea charset="-122" pitchFamily="34" typeface="Calibri"/>
                <a:cs charset="-120" pitchFamily="34" typeface="Calibri"/>
              </a:rPr>
              <a:t>⚡ JOY</a:t>
            </a:r>
            <a:endParaRPr dirty="0" lang="en-US" sz="900"/>
          </a:p>
        </p:txBody>
      </p:sp>
      <p:sp>
        <p:nvSpPr>
          <p:cNvPr id="26" name="Shape 24"/>
          <p:cNvSpPr/>
          <p:nvPr/>
        </p:nvSpPr>
        <p:spPr>
          <a:xfrm>
            <a:off x="182880" y="1993392"/>
            <a:ext cx="8778240" cy="62179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7" name="Shape 25"/>
          <p:cNvSpPr/>
          <p:nvPr/>
        </p:nvSpPr>
        <p:spPr>
          <a:xfrm>
            <a:off x="182880" y="1993392"/>
            <a:ext cx="1097280" cy="621792"/>
          </a:xfrm>
          <a:prstGeom prst="rect">
            <a:avLst/>
          </a:prstGeom>
          <a:solidFill>
            <a:srgbClr val="8888AA"/>
          </a:solidFill>
          <a:ln w="12700">
            <a:solidFill>
              <a:srgbClr val="8888AA"/>
            </a:solidFill>
            <a:prstDash val="solid"/>
          </a:ln>
        </p:spPr>
      </p:sp>
      <p:sp>
        <p:nvSpPr>
          <p:cNvPr id="28" name="Text 26"/>
          <p:cNvSpPr/>
          <p:nvPr/>
        </p:nvSpPr>
        <p:spPr>
          <a:xfrm>
            <a:off x="182880" y="1993392"/>
            <a:ext cx="1097280" cy="621792"/>
          </a:xfrm>
          <a:prstGeom prst="rect">
            <a:avLst/>
          </a:prstGeom>
          <a:noFill/>
          <a:ln/>
        </p:spPr>
        <p:txBody>
          <a:bodyPr anchor="ctr" bIns="0" lIns="0" numCol="1" rIns="0" rtlCol="0" tIns="0" wrap="square"/>
          <a:lstStyle/>
          <a:p>
            <a:pPr algn="ctr" indent="0" marL="0">
              <a:buNone/>
            </a:pPr>
            <a:r>
              <a:rPr b="1" dirty="0" lang="en-US" sz="900">
                <a:solidFill>
                  <a:srgbClr val="0A1628"/>
                </a:solidFill>
                <a:latin charset="0" pitchFamily="34" typeface="Calibri"/>
                <a:ea charset="-122" pitchFamily="34" typeface="Calibri"/>
                <a:cs charset="-120" pitchFamily="34" typeface="Calibri"/>
              </a:rPr>
              <a:t>NEUTRAL</a:t>
            </a:r>
            <a:endParaRPr dirty="0" lang="en-US" sz="900"/>
          </a:p>
        </p:txBody>
      </p:sp>
      <p:sp>
        <p:nvSpPr>
          <p:cNvPr id="29" name="Text 27"/>
          <p:cNvSpPr/>
          <p:nvPr/>
        </p:nvSpPr>
        <p:spPr>
          <a:xfrm>
            <a:off x="1371600" y="2039112"/>
            <a:ext cx="4389120" cy="274320"/>
          </a:xfrm>
          <a:prstGeom prst="rect">
            <a:avLst/>
          </a:prstGeom>
          <a:noFill/>
          <a:ln/>
        </p:spPr>
        <p:txBody>
          <a:bodyPr anchor="ctr" bIns="0" lIns="0" numCol="1" rIns="0" rtlCol="0" tIns="0" wrap="square"/>
          <a:lstStyle/>
          <a:p>
            <a:pPr indent="0" marL="0">
              <a:buNone/>
            </a:pPr>
            <a:r>
              <a:rPr dirty="0" lang="en-US" sz="1000">
                <a:solidFill>
                  <a:srgbClr val="FFFFFF"/>
                </a:solidFill>
                <a:latin charset="0" pitchFamily="34" typeface="Calibri"/>
                <a:ea charset="-122" pitchFamily="34" typeface="Calibri"/>
                <a:cs charset="-120" pitchFamily="34" typeface="Calibri"/>
              </a:rPr>
              <a:t>The service was just okay, nothing special about it.</a:t>
            </a:r>
            <a:endParaRPr dirty="0" lang="en-US" sz="1000"/>
          </a:p>
        </p:txBody>
      </p:sp>
      <p:sp>
        <p:nvSpPr>
          <p:cNvPr id="30" name="Text 28"/>
          <p:cNvSpPr/>
          <p:nvPr/>
        </p:nvSpPr>
        <p:spPr>
          <a:xfrm>
            <a:off x="5989320" y="2039112"/>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POS</a:t>
            </a:r>
            <a:endParaRPr dirty="0" lang="en-US" sz="700"/>
          </a:p>
        </p:txBody>
      </p:sp>
      <p:sp>
        <p:nvSpPr>
          <p:cNvPr id="31" name="Shape 29"/>
          <p:cNvSpPr/>
          <p:nvPr/>
        </p:nvSpPr>
        <p:spPr>
          <a:xfrm>
            <a:off x="5989320" y="2249424"/>
            <a:ext cx="822960" cy="109728"/>
          </a:xfrm>
          <a:prstGeom prst="rect">
            <a:avLst/>
          </a:prstGeom>
          <a:solidFill>
            <a:srgbClr val="1A3A6B"/>
          </a:solidFill>
          <a:ln w="12700">
            <a:solidFill>
              <a:srgbClr val="1A3A6B"/>
            </a:solidFill>
            <a:prstDash val="solid"/>
          </a:ln>
        </p:spPr>
      </p:sp>
      <p:sp>
        <p:nvSpPr>
          <p:cNvPr id="32" name="Shape 30"/>
          <p:cNvSpPr/>
          <p:nvPr/>
        </p:nvSpPr>
        <p:spPr>
          <a:xfrm>
            <a:off x="5989320" y="2249424"/>
            <a:ext cx="65837" cy="109728"/>
          </a:xfrm>
          <a:prstGeom prst="rect">
            <a:avLst/>
          </a:prstGeom>
          <a:solidFill>
            <a:srgbClr val="00C48C"/>
          </a:solidFill>
          <a:ln w="12700">
            <a:solidFill>
              <a:srgbClr val="00C48C"/>
            </a:solidFill>
            <a:prstDash val="solid"/>
          </a:ln>
        </p:spPr>
      </p:sp>
      <p:sp>
        <p:nvSpPr>
          <p:cNvPr id="33" name="Text 31"/>
          <p:cNvSpPr/>
          <p:nvPr/>
        </p:nvSpPr>
        <p:spPr>
          <a:xfrm>
            <a:off x="5989320" y="2386584"/>
            <a:ext cx="822960" cy="164592"/>
          </a:xfrm>
          <a:prstGeom prst="rect">
            <a:avLst/>
          </a:prstGeom>
          <a:noFill/>
          <a:ln/>
        </p:spPr>
        <p:txBody>
          <a:bodyPr anchor="ctr" bIns="0" lIns="0" numCol="1" rIns="0" rtlCol="0" tIns="0" wrap="square"/>
          <a:lstStyle/>
          <a:p>
            <a:pPr algn="ctr" indent="0" marL="0">
              <a:buNone/>
            </a:pPr>
            <a:r>
              <a:rPr dirty="0" lang="en-US" sz="800">
                <a:solidFill>
                  <a:srgbClr val="00C48C"/>
                </a:solidFill>
                <a:latin charset="0" pitchFamily="34" typeface="Calibri"/>
                <a:ea charset="-122" pitchFamily="34" typeface="Calibri"/>
                <a:cs charset="-120" pitchFamily="34" typeface="Calibri"/>
              </a:rPr>
              <a:t>8%</a:t>
            </a:r>
            <a:endParaRPr dirty="0" lang="en-US" sz="800"/>
          </a:p>
        </p:txBody>
      </p:sp>
      <p:sp>
        <p:nvSpPr>
          <p:cNvPr id="34" name="Text 32"/>
          <p:cNvSpPr/>
          <p:nvPr/>
        </p:nvSpPr>
        <p:spPr>
          <a:xfrm>
            <a:off x="6949440" y="2039112"/>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NEU</a:t>
            </a:r>
            <a:endParaRPr dirty="0" lang="en-US" sz="700"/>
          </a:p>
        </p:txBody>
      </p:sp>
      <p:sp>
        <p:nvSpPr>
          <p:cNvPr id="35" name="Shape 33"/>
          <p:cNvSpPr/>
          <p:nvPr/>
        </p:nvSpPr>
        <p:spPr>
          <a:xfrm>
            <a:off x="6949440" y="2249424"/>
            <a:ext cx="822960" cy="109728"/>
          </a:xfrm>
          <a:prstGeom prst="rect">
            <a:avLst/>
          </a:prstGeom>
          <a:solidFill>
            <a:srgbClr val="1A3A6B"/>
          </a:solidFill>
          <a:ln w="12700">
            <a:solidFill>
              <a:srgbClr val="1A3A6B"/>
            </a:solidFill>
            <a:prstDash val="solid"/>
          </a:ln>
        </p:spPr>
      </p:sp>
      <p:sp>
        <p:nvSpPr>
          <p:cNvPr id="36" name="Shape 34"/>
          <p:cNvSpPr/>
          <p:nvPr/>
        </p:nvSpPr>
        <p:spPr>
          <a:xfrm>
            <a:off x="6949440" y="2249424"/>
            <a:ext cx="608990" cy="109728"/>
          </a:xfrm>
          <a:prstGeom prst="rect">
            <a:avLst/>
          </a:prstGeom>
          <a:solidFill>
            <a:srgbClr val="6B7280"/>
          </a:solidFill>
          <a:ln w="12700">
            <a:solidFill>
              <a:srgbClr val="6B7280"/>
            </a:solidFill>
            <a:prstDash val="solid"/>
          </a:ln>
        </p:spPr>
      </p:sp>
      <p:sp>
        <p:nvSpPr>
          <p:cNvPr id="37" name="Text 35"/>
          <p:cNvSpPr/>
          <p:nvPr/>
        </p:nvSpPr>
        <p:spPr>
          <a:xfrm>
            <a:off x="6949440" y="2386584"/>
            <a:ext cx="822960" cy="164592"/>
          </a:xfrm>
          <a:prstGeom prst="rect">
            <a:avLst/>
          </a:prstGeom>
          <a:noFill/>
          <a:ln/>
        </p:spPr>
        <p:txBody>
          <a:bodyPr anchor="ctr" bIns="0" lIns="0" numCol="1" rIns="0" rtlCol="0" tIns="0" wrap="square"/>
          <a:lstStyle/>
          <a:p>
            <a:pPr algn="ctr" indent="0" marL="0">
              <a:buNone/>
            </a:pPr>
            <a:r>
              <a:rPr dirty="0" lang="en-US" sz="800">
                <a:solidFill>
                  <a:srgbClr val="6B7280"/>
                </a:solidFill>
                <a:latin charset="0" pitchFamily="34" typeface="Calibri"/>
                <a:ea charset="-122" pitchFamily="34" typeface="Calibri"/>
                <a:cs charset="-120" pitchFamily="34" typeface="Calibri"/>
              </a:rPr>
              <a:t>74%</a:t>
            </a:r>
            <a:endParaRPr dirty="0" lang="en-US" sz="800"/>
          </a:p>
        </p:txBody>
      </p:sp>
      <p:sp>
        <p:nvSpPr>
          <p:cNvPr id="38" name="Text 36"/>
          <p:cNvSpPr/>
          <p:nvPr/>
        </p:nvSpPr>
        <p:spPr>
          <a:xfrm>
            <a:off x="7909560" y="2039112"/>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NEG</a:t>
            </a:r>
            <a:endParaRPr dirty="0" lang="en-US" sz="700"/>
          </a:p>
        </p:txBody>
      </p:sp>
      <p:sp>
        <p:nvSpPr>
          <p:cNvPr id="39" name="Shape 37"/>
          <p:cNvSpPr/>
          <p:nvPr/>
        </p:nvSpPr>
        <p:spPr>
          <a:xfrm>
            <a:off x="7909560" y="2249424"/>
            <a:ext cx="822960" cy="109728"/>
          </a:xfrm>
          <a:prstGeom prst="rect">
            <a:avLst/>
          </a:prstGeom>
          <a:solidFill>
            <a:srgbClr val="1A3A6B"/>
          </a:solidFill>
          <a:ln w="12700">
            <a:solidFill>
              <a:srgbClr val="1A3A6B"/>
            </a:solidFill>
            <a:prstDash val="solid"/>
          </a:ln>
        </p:spPr>
      </p:sp>
      <p:sp>
        <p:nvSpPr>
          <p:cNvPr id="40" name="Shape 38"/>
          <p:cNvSpPr/>
          <p:nvPr/>
        </p:nvSpPr>
        <p:spPr>
          <a:xfrm>
            <a:off x="7909560" y="2249424"/>
            <a:ext cx="148133" cy="109728"/>
          </a:xfrm>
          <a:prstGeom prst="rect">
            <a:avLst/>
          </a:prstGeom>
          <a:solidFill>
            <a:srgbClr val="EF4444"/>
          </a:solidFill>
          <a:ln w="12700">
            <a:solidFill>
              <a:srgbClr val="EF4444"/>
            </a:solidFill>
            <a:prstDash val="solid"/>
          </a:ln>
        </p:spPr>
      </p:sp>
      <p:sp>
        <p:nvSpPr>
          <p:cNvPr id="41" name="Text 39"/>
          <p:cNvSpPr/>
          <p:nvPr/>
        </p:nvSpPr>
        <p:spPr>
          <a:xfrm>
            <a:off x="7909560" y="2386584"/>
            <a:ext cx="822960" cy="164592"/>
          </a:xfrm>
          <a:prstGeom prst="rect">
            <a:avLst/>
          </a:prstGeom>
          <a:noFill/>
          <a:ln/>
        </p:spPr>
        <p:txBody>
          <a:bodyPr anchor="ctr" bIns="0" lIns="0" numCol="1" rIns="0" rtlCol="0" tIns="0" wrap="square"/>
          <a:lstStyle/>
          <a:p>
            <a:pPr algn="ctr" indent="0" marL="0">
              <a:buNone/>
            </a:pPr>
            <a:r>
              <a:rPr dirty="0" lang="en-US" sz="800">
                <a:solidFill>
                  <a:srgbClr val="EF4444"/>
                </a:solidFill>
                <a:latin charset="0" pitchFamily="34" typeface="Calibri"/>
                <a:ea charset="-122" pitchFamily="34" typeface="Calibri"/>
                <a:cs charset="-120" pitchFamily="34" typeface="Calibri"/>
              </a:rPr>
              <a:t>18%</a:t>
            </a:r>
            <a:endParaRPr dirty="0" lang="en-US" sz="800"/>
          </a:p>
        </p:txBody>
      </p:sp>
      <p:sp>
        <p:nvSpPr>
          <p:cNvPr id="42" name="Text 40"/>
          <p:cNvSpPr/>
          <p:nvPr/>
        </p:nvSpPr>
        <p:spPr>
          <a:xfrm>
            <a:off x="1371600" y="2340864"/>
            <a:ext cx="2286000" cy="219456"/>
          </a:xfrm>
          <a:prstGeom prst="rect">
            <a:avLst/>
          </a:prstGeom>
          <a:noFill/>
          <a:ln/>
        </p:spPr>
        <p:txBody>
          <a:bodyPr anchor="ctr" bIns="0" lIns="0" numCol="1" rIns="0" rtlCol="0" tIns="0" wrap="square"/>
          <a:lstStyle/>
          <a:p>
            <a:pPr indent="0" marL="0">
              <a:buNone/>
            </a:pPr>
            <a:r>
              <a:rPr b="1" dirty="0" lang="en-US" sz="900">
                <a:solidFill>
                  <a:srgbClr val="FF8C42"/>
                </a:solidFill>
                <a:latin charset="0" pitchFamily="34" typeface="Calibri"/>
                <a:ea charset="-122" pitchFamily="34" typeface="Calibri"/>
                <a:cs charset="-120" pitchFamily="34" typeface="Calibri"/>
              </a:rPr>
              <a:t>⚡ NEUTRAL</a:t>
            </a:r>
            <a:endParaRPr dirty="0" lang="en-US" sz="900"/>
          </a:p>
        </p:txBody>
      </p:sp>
      <p:sp>
        <p:nvSpPr>
          <p:cNvPr id="43" name="Shape 41"/>
          <p:cNvSpPr/>
          <p:nvPr/>
        </p:nvSpPr>
        <p:spPr>
          <a:xfrm>
            <a:off x="182880" y="2688336"/>
            <a:ext cx="8778240" cy="62179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44" name="Shape 42"/>
          <p:cNvSpPr/>
          <p:nvPr/>
        </p:nvSpPr>
        <p:spPr>
          <a:xfrm>
            <a:off x="182880" y="2688336"/>
            <a:ext cx="1097280" cy="621792"/>
          </a:xfrm>
          <a:prstGeom prst="rect">
            <a:avLst/>
          </a:prstGeom>
          <a:solidFill>
            <a:srgbClr val="EF4444"/>
          </a:solidFill>
          <a:ln w="12700">
            <a:solidFill>
              <a:srgbClr val="EF4444"/>
            </a:solidFill>
            <a:prstDash val="solid"/>
          </a:ln>
        </p:spPr>
      </p:sp>
      <p:sp>
        <p:nvSpPr>
          <p:cNvPr id="45" name="Text 43"/>
          <p:cNvSpPr/>
          <p:nvPr/>
        </p:nvSpPr>
        <p:spPr>
          <a:xfrm>
            <a:off x="182880" y="2688336"/>
            <a:ext cx="1097280" cy="621792"/>
          </a:xfrm>
          <a:prstGeom prst="rect">
            <a:avLst/>
          </a:prstGeom>
          <a:noFill/>
          <a:ln/>
        </p:spPr>
        <p:txBody>
          <a:bodyPr anchor="ctr" bIns="0" lIns="0" numCol="1" rIns="0" rtlCol="0" tIns="0" wrap="square"/>
          <a:lstStyle/>
          <a:p>
            <a:pPr algn="ctr" indent="0" marL="0">
              <a:buNone/>
            </a:pPr>
            <a:r>
              <a:rPr b="1" dirty="0" lang="en-US" sz="900">
                <a:solidFill>
                  <a:srgbClr val="0A1628"/>
                </a:solidFill>
                <a:latin charset="0" pitchFamily="34" typeface="Calibri"/>
                <a:ea charset="-122" pitchFamily="34" typeface="Calibri"/>
                <a:cs charset="-120" pitchFamily="34" typeface="Calibri"/>
              </a:rPr>
              <a:t>NEGATIVE</a:t>
            </a:r>
            <a:endParaRPr dirty="0" lang="en-US" sz="900"/>
          </a:p>
        </p:txBody>
      </p:sp>
      <p:sp>
        <p:nvSpPr>
          <p:cNvPr id="46" name="Text 44"/>
          <p:cNvSpPr/>
          <p:nvPr/>
        </p:nvSpPr>
        <p:spPr>
          <a:xfrm>
            <a:off x="1371600" y="2734056"/>
            <a:ext cx="4389120" cy="274320"/>
          </a:xfrm>
          <a:prstGeom prst="rect">
            <a:avLst/>
          </a:prstGeom>
          <a:noFill/>
          <a:ln/>
        </p:spPr>
        <p:txBody>
          <a:bodyPr anchor="ctr" bIns="0" lIns="0" numCol="1" rIns="0" rtlCol="0" tIns="0" wrap="square"/>
          <a:lstStyle/>
          <a:p>
            <a:pPr indent="0" marL="0">
              <a:buNone/>
            </a:pPr>
            <a:r>
              <a:rPr dirty="0" lang="en-US" sz="1000">
                <a:solidFill>
                  <a:srgbClr val="FFFFFF"/>
                </a:solidFill>
                <a:latin charset="0" pitchFamily="34" typeface="Calibri"/>
                <a:ea charset="-122" pitchFamily="34" typeface="Calibri"/>
                <a:cs charset="-120" pitchFamily="34" typeface="Calibri"/>
              </a:rPr>
              <a:t>This is the worst experience I have ever had. Terrible!</a:t>
            </a:r>
            <a:endParaRPr dirty="0" lang="en-US" sz="1000"/>
          </a:p>
        </p:txBody>
      </p:sp>
      <p:sp>
        <p:nvSpPr>
          <p:cNvPr id="47" name="Text 45"/>
          <p:cNvSpPr/>
          <p:nvPr/>
        </p:nvSpPr>
        <p:spPr>
          <a:xfrm>
            <a:off x="5989320" y="2734056"/>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POS</a:t>
            </a:r>
            <a:endParaRPr dirty="0" lang="en-US" sz="700"/>
          </a:p>
        </p:txBody>
      </p:sp>
      <p:sp>
        <p:nvSpPr>
          <p:cNvPr id="48" name="Shape 46"/>
          <p:cNvSpPr/>
          <p:nvPr/>
        </p:nvSpPr>
        <p:spPr>
          <a:xfrm>
            <a:off x="5989320" y="2944368"/>
            <a:ext cx="822960" cy="109728"/>
          </a:xfrm>
          <a:prstGeom prst="rect">
            <a:avLst/>
          </a:prstGeom>
          <a:solidFill>
            <a:srgbClr val="1A3A6B"/>
          </a:solidFill>
          <a:ln w="12700">
            <a:solidFill>
              <a:srgbClr val="1A3A6B"/>
            </a:solidFill>
            <a:prstDash val="solid"/>
          </a:ln>
        </p:spPr>
      </p:sp>
      <p:sp>
        <p:nvSpPr>
          <p:cNvPr id="49" name="Shape 47"/>
          <p:cNvSpPr/>
          <p:nvPr/>
        </p:nvSpPr>
        <p:spPr>
          <a:xfrm>
            <a:off x="5989320" y="2944368"/>
            <a:ext cx="16459" cy="109728"/>
          </a:xfrm>
          <a:prstGeom prst="rect">
            <a:avLst/>
          </a:prstGeom>
          <a:solidFill>
            <a:srgbClr val="00C48C"/>
          </a:solidFill>
          <a:ln w="12700">
            <a:solidFill>
              <a:srgbClr val="00C48C"/>
            </a:solidFill>
            <a:prstDash val="solid"/>
          </a:ln>
        </p:spPr>
      </p:sp>
      <p:sp>
        <p:nvSpPr>
          <p:cNvPr id="50" name="Text 48"/>
          <p:cNvSpPr/>
          <p:nvPr/>
        </p:nvSpPr>
        <p:spPr>
          <a:xfrm>
            <a:off x="5989320" y="3081528"/>
            <a:ext cx="822960" cy="164592"/>
          </a:xfrm>
          <a:prstGeom prst="rect">
            <a:avLst/>
          </a:prstGeom>
          <a:noFill/>
          <a:ln/>
        </p:spPr>
        <p:txBody>
          <a:bodyPr anchor="ctr" bIns="0" lIns="0" numCol="1" rIns="0" rtlCol="0" tIns="0" wrap="square"/>
          <a:lstStyle/>
          <a:p>
            <a:pPr algn="ctr" indent="0" marL="0">
              <a:buNone/>
            </a:pPr>
            <a:r>
              <a:rPr dirty="0" lang="en-US" sz="800">
                <a:solidFill>
                  <a:srgbClr val="00C48C"/>
                </a:solidFill>
                <a:latin charset="0" pitchFamily="34" typeface="Calibri"/>
                <a:ea charset="-122" pitchFamily="34" typeface="Calibri"/>
                <a:cs charset="-120" pitchFamily="34" typeface="Calibri"/>
              </a:rPr>
              <a:t>2%</a:t>
            </a:r>
            <a:endParaRPr dirty="0" lang="en-US" sz="800"/>
          </a:p>
        </p:txBody>
      </p:sp>
      <p:sp>
        <p:nvSpPr>
          <p:cNvPr id="51" name="Text 49"/>
          <p:cNvSpPr/>
          <p:nvPr/>
        </p:nvSpPr>
        <p:spPr>
          <a:xfrm>
            <a:off x="6949440" y="2734056"/>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NEU</a:t>
            </a:r>
            <a:endParaRPr dirty="0" lang="en-US" sz="700"/>
          </a:p>
        </p:txBody>
      </p:sp>
      <p:sp>
        <p:nvSpPr>
          <p:cNvPr id="52" name="Shape 50"/>
          <p:cNvSpPr/>
          <p:nvPr/>
        </p:nvSpPr>
        <p:spPr>
          <a:xfrm>
            <a:off x="6949440" y="2944368"/>
            <a:ext cx="822960" cy="109728"/>
          </a:xfrm>
          <a:prstGeom prst="rect">
            <a:avLst/>
          </a:prstGeom>
          <a:solidFill>
            <a:srgbClr val="1A3A6B"/>
          </a:solidFill>
          <a:ln w="12700">
            <a:solidFill>
              <a:srgbClr val="1A3A6B"/>
            </a:solidFill>
            <a:prstDash val="solid"/>
          </a:ln>
        </p:spPr>
      </p:sp>
      <p:sp>
        <p:nvSpPr>
          <p:cNvPr id="53" name="Shape 51"/>
          <p:cNvSpPr/>
          <p:nvPr/>
        </p:nvSpPr>
        <p:spPr>
          <a:xfrm>
            <a:off x="6949440" y="2944368"/>
            <a:ext cx="41148" cy="109728"/>
          </a:xfrm>
          <a:prstGeom prst="rect">
            <a:avLst/>
          </a:prstGeom>
          <a:solidFill>
            <a:srgbClr val="6B7280"/>
          </a:solidFill>
          <a:ln w="12700">
            <a:solidFill>
              <a:srgbClr val="6B7280"/>
            </a:solidFill>
            <a:prstDash val="solid"/>
          </a:ln>
        </p:spPr>
      </p:sp>
      <p:sp>
        <p:nvSpPr>
          <p:cNvPr id="54" name="Text 52"/>
          <p:cNvSpPr/>
          <p:nvPr/>
        </p:nvSpPr>
        <p:spPr>
          <a:xfrm>
            <a:off x="6949440" y="3081528"/>
            <a:ext cx="822960" cy="164592"/>
          </a:xfrm>
          <a:prstGeom prst="rect">
            <a:avLst/>
          </a:prstGeom>
          <a:noFill/>
          <a:ln/>
        </p:spPr>
        <p:txBody>
          <a:bodyPr anchor="ctr" bIns="0" lIns="0" numCol="1" rIns="0" rtlCol="0" tIns="0" wrap="square"/>
          <a:lstStyle/>
          <a:p>
            <a:pPr algn="ctr" indent="0" marL="0">
              <a:buNone/>
            </a:pPr>
            <a:r>
              <a:rPr dirty="0" lang="en-US" sz="800">
                <a:solidFill>
                  <a:srgbClr val="6B7280"/>
                </a:solidFill>
                <a:latin charset="0" pitchFamily="34" typeface="Calibri"/>
                <a:ea charset="-122" pitchFamily="34" typeface="Calibri"/>
                <a:cs charset="-120" pitchFamily="34" typeface="Calibri"/>
              </a:rPr>
              <a:t>5%</a:t>
            </a:r>
            <a:endParaRPr dirty="0" lang="en-US" sz="800"/>
          </a:p>
        </p:txBody>
      </p:sp>
      <p:sp>
        <p:nvSpPr>
          <p:cNvPr id="55" name="Text 53"/>
          <p:cNvSpPr/>
          <p:nvPr/>
        </p:nvSpPr>
        <p:spPr>
          <a:xfrm>
            <a:off x="7909560" y="2734056"/>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NEG</a:t>
            </a:r>
            <a:endParaRPr dirty="0" lang="en-US" sz="700"/>
          </a:p>
        </p:txBody>
      </p:sp>
      <p:sp>
        <p:nvSpPr>
          <p:cNvPr id="56" name="Shape 54"/>
          <p:cNvSpPr/>
          <p:nvPr/>
        </p:nvSpPr>
        <p:spPr>
          <a:xfrm>
            <a:off x="7909560" y="2944368"/>
            <a:ext cx="822960" cy="109728"/>
          </a:xfrm>
          <a:prstGeom prst="rect">
            <a:avLst/>
          </a:prstGeom>
          <a:solidFill>
            <a:srgbClr val="1A3A6B"/>
          </a:solidFill>
          <a:ln w="12700">
            <a:solidFill>
              <a:srgbClr val="1A3A6B"/>
            </a:solidFill>
            <a:prstDash val="solid"/>
          </a:ln>
        </p:spPr>
      </p:sp>
      <p:sp>
        <p:nvSpPr>
          <p:cNvPr id="57" name="Shape 55"/>
          <p:cNvSpPr/>
          <p:nvPr/>
        </p:nvSpPr>
        <p:spPr>
          <a:xfrm>
            <a:off x="7909560" y="2944368"/>
            <a:ext cx="765353" cy="109728"/>
          </a:xfrm>
          <a:prstGeom prst="rect">
            <a:avLst/>
          </a:prstGeom>
          <a:solidFill>
            <a:srgbClr val="EF4444"/>
          </a:solidFill>
          <a:ln w="12700">
            <a:solidFill>
              <a:srgbClr val="EF4444"/>
            </a:solidFill>
            <a:prstDash val="solid"/>
          </a:ln>
        </p:spPr>
      </p:sp>
      <p:sp>
        <p:nvSpPr>
          <p:cNvPr id="58" name="Text 56"/>
          <p:cNvSpPr/>
          <p:nvPr/>
        </p:nvSpPr>
        <p:spPr>
          <a:xfrm>
            <a:off x="7909560" y="3081528"/>
            <a:ext cx="822960" cy="164592"/>
          </a:xfrm>
          <a:prstGeom prst="rect">
            <a:avLst/>
          </a:prstGeom>
          <a:noFill/>
          <a:ln/>
        </p:spPr>
        <p:txBody>
          <a:bodyPr anchor="ctr" bIns="0" lIns="0" numCol="1" rIns="0" rtlCol="0" tIns="0" wrap="square"/>
          <a:lstStyle/>
          <a:p>
            <a:pPr algn="ctr" indent="0" marL="0">
              <a:buNone/>
            </a:pPr>
            <a:r>
              <a:rPr dirty="0" lang="en-US" sz="800">
                <a:solidFill>
                  <a:srgbClr val="EF4444"/>
                </a:solidFill>
                <a:latin charset="0" pitchFamily="34" typeface="Calibri"/>
                <a:ea charset="-122" pitchFamily="34" typeface="Calibri"/>
                <a:cs charset="-120" pitchFamily="34" typeface="Calibri"/>
              </a:rPr>
              <a:t>93%</a:t>
            </a:r>
            <a:endParaRPr dirty="0" lang="en-US" sz="800"/>
          </a:p>
        </p:txBody>
      </p:sp>
      <p:sp>
        <p:nvSpPr>
          <p:cNvPr id="59" name="Text 57"/>
          <p:cNvSpPr/>
          <p:nvPr/>
        </p:nvSpPr>
        <p:spPr>
          <a:xfrm>
            <a:off x="1371600" y="3035808"/>
            <a:ext cx="2286000" cy="219456"/>
          </a:xfrm>
          <a:prstGeom prst="rect">
            <a:avLst/>
          </a:prstGeom>
          <a:noFill/>
          <a:ln/>
        </p:spPr>
        <p:txBody>
          <a:bodyPr anchor="ctr" bIns="0" lIns="0" numCol="1" rIns="0" rtlCol="0" tIns="0" wrap="square"/>
          <a:lstStyle/>
          <a:p>
            <a:pPr indent="0" marL="0">
              <a:buNone/>
            </a:pPr>
            <a:r>
              <a:rPr b="1" dirty="0" lang="en-US" sz="900">
                <a:solidFill>
                  <a:srgbClr val="FF8C42"/>
                </a:solidFill>
                <a:latin charset="0" pitchFamily="34" typeface="Calibri"/>
                <a:ea charset="-122" pitchFamily="34" typeface="Calibri"/>
                <a:cs charset="-120" pitchFamily="34" typeface="Calibri"/>
              </a:rPr>
              <a:t>⚡ ANGER</a:t>
            </a:r>
            <a:endParaRPr dirty="0" lang="en-US" sz="900"/>
          </a:p>
        </p:txBody>
      </p:sp>
      <p:sp>
        <p:nvSpPr>
          <p:cNvPr id="60" name="Shape 58"/>
          <p:cNvSpPr/>
          <p:nvPr/>
        </p:nvSpPr>
        <p:spPr>
          <a:xfrm>
            <a:off x="182880" y="3383280"/>
            <a:ext cx="8778240" cy="62179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61" name="Shape 59"/>
          <p:cNvSpPr/>
          <p:nvPr/>
        </p:nvSpPr>
        <p:spPr>
          <a:xfrm>
            <a:off x="182880" y="3383280"/>
            <a:ext cx="1097280" cy="621792"/>
          </a:xfrm>
          <a:prstGeom prst="rect">
            <a:avLst/>
          </a:prstGeom>
          <a:solidFill>
            <a:srgbClr val="00C48C"/>
          </a:solidFill>
          <a:ln w="12700">
            <a:solidFill>
              <a:srgbClr val="00C48C"/>
            </a:solidFill>
            <a:prstDash val="solid"/>
          </a:ln>
        </p:spPr>
      </p:sp>
      <p:sp>
        <p:nvSpPr>
          <p:cNvPr id="62" name="Text 60"/>
          <p:cNvSpPr/>
          <p:nvPr/>
        </p:nvSpPr>
        <p:spPr>
          <a:xfrm>
            <a:off x="182880" y="3383280"/>
            <a:ext cx="1097280" cy="621792"/>
          </a:xfrm>
          <a:prstGeom prst="rect">
            <a:avLst/>
          </a:prstGeom>
          <a:noFill/>
          <a:ln/>
        </p:spPr>
        <p:txBody>
          <a:bodyPr anchor="ctr" bIns="0" lIns="0" numCol="1" rIns="0" rtlCol="0" tIns="0" wrap="square"/>
          <a:lstStyle/>
          <a:p>
            <a:pPr algn="ctr" indent="0" marL="0">
              <a:buNone/>
            </a:pPr>
            <a:r>
              <a:rPr b="1" dirty="0" lang="en-US" sz="900">
                <a:solidFill>
                  <a:srgbClr val="0A1628"/>
                </a:solidFill>
                <a:latin charset="0" pitchFamily="34" typeface="Calibri"/>
                <a:ea charset="-122" pitchFamily="34" typeface="Calibri"/>
                <a:cs charset="-120" pitchFamily="34" typeface="Calibri"/>
              </a:rPr>
              <a:t>POSITIVE</a:t>
            </a:r>
            <a:endParaRPr dirty="0" lang="en-US" sz="900"/>
          </a:p>
        </p:txBody>
      </p:sp>
      <p:sp>
        <p:nvSpPr>
          <p:cNvPr id="63" name="Text 61"/>
          <p:cNvSpPr/>
          <p:nvPr/>
        </p:nvSpPr>
        <p:spPr>
          <a:xfrm>
            <a:off x="1371600" y="3429000"/>
            <a:ext cx="4389120" cy="274320"/>
          </a:xfrm>
          <a:prstGeom prst="rect">
            <a:avLst/>
          </a:prstGeom>
          <a:noFill/>
          <a:ln/>
        </p:spPr>
        <p:txBody>
          <a:bodyPr anchor="ctr" bIns="0" lIns="0" numCol="1" rIns="0" rtlCol="0" tIns="0" wrap="square"/>
          <a:lstStyle/>
          <a:p>
            <a:pPr indent="0" marL="0">
              <a:buNone/>
            </a:pPr>
            <a:r>
              <a:rPr dirty="0" lang="en-US" sz="1000">
                <a:solidFill>
                  <a:srgbClr val="FFFFFF"/>
                </a:solidFill>
                <a:latin charset="0" pitchFamily="34" typeface="Calibri"/>
                <a:ea charset="-122" pitchFamily="34" typeface="Calibri"/>
                <a:cs charset="-120" pitchFamily="34" typeface="Calibri"/>
              </a:rPr>
              <a:t>Hugging Face makes AI development very easy and accessible.</a:t>
            </a:r>
            <a:endParaRPr dirty="0" lang="en-US" sz="1000"/>
          </a:p>
        </p:txBody>
      </p:sp>
      <p:sp>
        <p:nvSpPr>
          <p:cNvPr id="64" name="Text 62"/>
          <p:cNvSpPr/>
          <p:nvPr/>
        </p:nvSpPr>
        <p:spPr>
          <a:xfrm>
            <a:off x="5989320" y="3429000"/>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POS</a:t>
            </a:r>
            <a:endParaRPr dirty="0" lang="en-US" sz="700"/>
          </a:p>
        </p:txBody>
      </p:sp>
      <p:sp>
        <p:nvSpPr>
          <p:cNvPr id="65" name="Shape 63"/>
          <p:cNvSpPr/>
          <p:nvPr/>
        </p:nvSpPr>
        <p:spPr>
          <a:xfrm>
            <a:off x="5989320" y="3639312"/>
            <a:ext cx="822960" cy="109728"/>
          </a:xfrm>
          <a:prstGeom prst="rect">
            <a:avLst/>
          </a:prstGeom>
          <a:solidFill>
            <a:srgbClr val="1A3A6B"/>
          </a:solidFill>
          <a:ln w="12700">
            <a:solidFill>
              <a:srgbClr val="1A3A6B"/>
            </a:solidFill>
            <a:prstDash val="solid"/>
          </a:ln>
        </p:spPr>
      </p:sp>
      <p:sp>
        <p:nvSpPr>
          <p:cNvPr id="66" name="Shape 64"/>
          <p:cNvSpPr/>
          <p:nvPr/>
        </p:nvSpPr>
        <p:spPr>
          <a:xfrm>
            <a:off x="5989320" y="3639312"/>
            <a:ext cx="773582" cy="109728"/>
          </a:xfrm>
          <a:prstGeom prst="rect">
            <a:avLst/>
          </a:prstGeom>
          <a:solidFill>
            <a:srgbClr val="00C48C"/>
          </a:solidFill>
          <a:ln w="12700">
            <a:solidFill>
              <a:srgbClr val="00C48C"/>
            </a:solidFill>
            <a:prstDash val="solid"/>
          </a:ln>
        </p:spPr>
      </p:sp>
      <p:sp>
        <p:nvSpPr>
          <p:cNvPr id="67" name="Text 65"/>
          <p:cNvSpPr/>
          <p:nvPr/>
        </p:nvSpPr>
        <p:spPr>
          <a:xfrm>
            <a:off x="5989320" y="3776472"/>
            <a:ext cx="822960" cy="164592"/>
          </a:xfrm>
          <a:prstGeom prst="rect">
            <a:avLst/>
          </a:prstGeom>
          <a:noFill/>
          <a:ln/>
        </p:spPr>
        <p:txBody>
          <a:bodyPr anchor="ctr" bIns="0" lIns="0" numCol="1" rIns="0" rtlCol="0" tIns="0" wrap="square"/>
          <a:lstStyle/>
          <a:p>
            <a:pPr algn="ctr" indent="0" marL="0">
              <a:buNone/>
            </a:pPr>
            <a:r>
              <a:rPr dirty="0" lang="en-US" sz="800">
                <a:solidFill>
                  <a:srgbClr val="00C48C"/>
                </a:solidFill>
                <a:latin charset="0" pitchFamily="34" typeface="Calibri"/>
                <a:ea charset="-122" pitchFamily="34" typeface="Calibri"/>
                <a:cs charset="-120" pitchFamily="34" typeface="Calibri"/>
              </a:rPr>
              <a:t>94%</a:t>
            </a:r>
            <a:endParaRPr dirty="0" lang="en-US" sz="800"/>
          </a:p>
        </p:txBody>
      </p:sp>
      <p:sp>
        <p:nvSpPr>
          <p:cNvPr id="68" name="Text 66"/>
          <p:cNvSpPr/>
          <p:nvPr/>
        </p:nvSpPr>
        <p:spPr>
          <a:xfrm>
            <a:off x="6949440" y="3429000"/>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NEU</a:t>
            </a:r>
            <a:endParaRPr dirty="0" lang="en-US" sz="700"/>
          </a:p>
        </p:txBody>
      </p:sp>
      <p:sp>
        <p:nvSpPr>
          <p:cNvPr id="69" name="Shape 67"/>
          <p:cNvSpPr/>
          <p:nvPr/>
        </p:nvSpPr>
        <p:spPr>
          <a:xfrm>
            <a:off x="6949440" y="3639312"/>
            <a:ext cx="822960" cy="109728"/>
          </a:xfrm>
          <a:prstGeom prst="rect">
            <a:avLst/>
          </a:prstGeom>
          <a:solidFill>
            <a:srgbClr val="1A3A6B"/>
          </a:solidFill>
          <a:ln w="12700">
            <a:solidFill>
              <a:srgbClr val="1A3A6B"/>
            </a:solidFill>
            <a:prstDash val="solid"/>
          </a:ln>
        </p:spPr>
      </p:sp>
      <p:sp>
        <p:nvSpPr>
          <p:cNvPr id="70" name="Shape 68"/>
          <p:cNvSpPr/>
          <p:nvPr/>
        </p:nvSpPr>
        <p:spPr>
          <a:xfrm>
            <a:off x="6949440" y="3639312"/>
            <a:ext cx="32918" cy="109728"/>
          </a:xfrm>
          <a:prstGeom prst="rect">
            <a:avLst/>
          </a:prstGeom>
          <a:solidFill>
            <a:srgbClr val="6B7280"/>
          </a:solidFill>
          <a:ln w="12700">
            <a:solidFill>
              <a:srgbClr val="6B7280"/>
            </a:solidFill>
            <a:prstDash val="solid"/>
          </a:ln>
        </p:spPr>
      </p:sp>
      <p:sp>
        <p:nvSpPr>
          <p:cNvPr id="71" name="Text 69"/>
          <p:cNvSpPr/>
          <p:nvPr/>
        </p:nvSpPr>
        <p:spPr>
          <a:xfrm>
            <a:off x="6949440" y="3776472"/>
            <a:ext cx="822960" cy="164592"/>
          </a:xfrm>
          <a:prstGeom prst="rect">
            <a:avLst/>
          </a:prstGeom>
          <a:noFill/>
          <a:ln/>
        </p:spPr>
        <p:txBody>
          <a:bodyPr anchor="ctr" bIns="0" lIns="0" numCol="1" rIns="0" rtlCol="0" tIns="0" wrap="square"/>
          <a:lstStyle/>
          <a:p>
            <a:pPr algn="ctr" indent="0" marL="0">
              <a:buNone/>
            </a:pPr>
            <a:r>
              <a:rPr dirty="0" lang="en-US" sz="800">
                <a:solidFill>
                  <a:srgbClr val="6B7280"/>
                </a:solidFill>
                <a:latin charset="0" pitchFamily="34" typeface="Calibri"/>
                <a:ea charset="-122" pitchFamily="34" typeface="Calibri"/>
                <a:cs charset="-120" pitchFamily="34" typeface="Calibri"/>
              </a:rPr>
              <a:t>4%</a:t>
            </a:r>
            <a:endParaRPr dirty="0" lang="en-US" sz="800"/>
          </a:p>
        </p:txBody>
      </p:sp>
      <p:sp>
        <p:nvSpPr>
          <p:cNvPr id="72" name="Text 70"/>
          <p:cNvSpPr/>
          <p:nvPr/>
        </p:nvSpPr>
        <p:spPr>
          <a:xfrm>
            <a:off x="7909560" y="3429000"/>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NEG</a:t>
            </a:r>
            <a:endParaRPr dirty="0" lang="en-US" sz="700"/>
          </a:p>
        </p:txBody>
      </p:sp>
      <p:sp>
        <p:nvSpPr>
          <p:cNvPr id="73" name="Shape 71"/>
          <p:cNvSpPr/>
          <p:nvPr/>
        </p:nvSpPr>
        <p:spPr>
          <a:xfrm>
            <a:off x="7909560" y="3639312"/>
            <a:ext cx="822960" cy="109728"/>
          </a:xfrm>
          <a:prstGeom prst="rect">
            <a:avLst/>
          </a:prstGeom>
          <a:solidFill>
            <a:srgbClr val="1A3A6B"/>
          </a:solidFill>
          <a:ln w="12700">
            <a:solidFill>
              <a:srgbClr val="1A3A6B"/>
            </a:solidFill>
            <a:prstDash val="solid"/>
          </a:ln>
        </p:spPr>
      </p:sp>
      <p:sp>
        <p:nvSpPr>
          <p:cNvPr id="74" name="Shape 72"/>
          <p:cNvSpPr/>
          <p:nvPr/>
        </p:nvSpPr>
        <p:spPr>
          <a:xfrm>
            <a:off x="7909560" y="3639312"/>
            <a:ext cx="16459" cy="109728"/>
          </a:xfrm>
          <a:prstGeom prst="rect">
            <a:avLst/>
          </a:prstGeom>
          <a:solidFill>
            <a:srgbClr val="EF4444"/>
          </a:solidFill>
          <a:ln w="12700">
            <a:solidFill>
              <a:srgbClr val="EF4444"/>
            </a:solidFill>
            <a:prstDash val="solid"/>
          </a:ln>
        </p:spPr>
      </p:sp>
      <p:sp>
        <p:nvSpPr>
          <p:cNvPr id="75" name="Text 73"/>
          <p:cNvSpPr/>
          <p:nvPr/>
        </p:nvSpPr>
        <p:spPr>
          <a:xfrm>
            <a:off x="7909560" y="3776472"/>
            <a:ext cx="822960" cy="164592"/>
          </a:xfrm>
          <a:prstGeom prst="rect">
            <a:avLst/>
          </a:prstGeom>
          <a:noFill/>
          <a:ln/>
        </p:spPr>
        <p:txBody>
          <a:bodyPr anchor="ctr" bIns="0" lIns="0" numCol="1" rIns="0" rtlCol="0" tIns="0" wrap="square"/>
          <a:lstStyle/>
          <a:p>
            <a:pPr algn="ctr" indent="0" marL="0">
              <a:buNone/>
            </a:pPr>
            <a:r>
              <a:rPr dirty="0" lang="en-US" sz="800">
                <a:solidFill>
                  <a:srgbClr val="EF4444"/>
                </a:solidFill>
                <a:latin charset="0" pitchFamily="34" typeface="Calibri"/>
                <a:ea charset="-122" pitchFamily="34" typeface="Calibri"/>
                <a:cs charset="-120" pitchFamily="34" typeface="Calibri"/>
              </a:rPr>
              <a:t>2%</a:t>
            </a:r>
            <a:endParaRPr dirty="0" lang="en-US" sz="800"/>
          </a:p>
        </p:txBody>
      </p:sp>
      <p:sp>
        <p:nvSpPr>
          <p:cNvPr id="76" name="Text 74"/>
          <p:cNvSpPr/>
          <p:nvPr/>
        </p:nvSpPr>
        <p:spPr>
          <a:xfrm>
            <a:off x="1371600" y="3730752"/>
            <a:ext cx="2286000" cy="219456"/>
          </a:xfrm>
          <a:prstGeom prst="rect">
            <a:avLst/>
          </a:prstGeom>
          <a:noFill/>
          <a:ln/>
        </p:spPr>
        <p:txBody>
          <a:bodyPr anchor="ctr" bIns="0" lIns="0" numCol="1" rIns="0" rtlCol="0" tIns="0" wrap="square"/>
          <a:lstStyle/>
          <a:p>
            <a:pPr indent="0" marL="0">
              <a:buNone/>
            </a:pPr>
            <a:r>
              <a:rPr b="1" dirty="0" lang="en-US" sz="900">
                <a:solidFill>
                  <a:srgbClr val="FF8C42"/>
                </a:solidFill>
                <a:latin charset="0" pitchFamily="34" typeface="Calibri"/>
                <a:ea charset="-122" pitchFamily="34" typeface="Calibri"/>
                <a:cs charset="-120" pitchFamily="34" typeface="Calibri"/>
              </a:rPr>
              <a:t>⚡ OPTIMISM</a:t>
            </a:r>
            <a:endParaRPr dirty="0" lang="en-US" sz="900"/>
          </a:p>
        </p:txBody>
      </p:sp>
      <p:sp>
        <p:nvSpPr>
          <p:cNvPr id="77" name="Shape 75"/>
          <p:cNvSpPr/>
          <p:nvPr/>
        </p:nvSpPr>
        <p:spPr>
          <a:xfrm>
            <a:off x="182880" y="4078224"/>
            <a:ext cx="8778240" cy="62179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78" name="Shape 76"/>
          <p:cNvSpPr/>
          <p:nvPr/>
        </p:nvSpPr>
        <p:spPr>
          <a:xfrm>
            <a:off x="182880" y="4078224"/>
            <a:ext cx="1097280" cy="621792"/>
          </a:xfrm>
          <a:prstGeom prst="rect">
            <a:avLst/>
          </a:prstGeom>
          <a:solidFill>
            <a:srgbClr val="8888AA"/>
          </a:solidFill>
          <a:ln w="12700">
            <a:solidFill>
              <a:srgbClr val="8888AA"/>
            </a:solidFill>
            <a:prstDash val="solid"/>
          </a:ln>
        </p:spPr>
      </p:sp>
      <p:sp>
        <p:nvSpPr>
          <p:cNvPr id="79" name="Text 77"/>
          <p:cNvSpPr/>
          <p:nvPr/>
        </p:nvSpPr>
        <p:spPr>
          <a:xfrm>
            <a:off x="182880" y="4078224"/>
            <a:ext cx="1097280" cy="621792"/>
          </a:xfrm>
          <a:prstGeom prst="rect">
            <a:avLst/>
          </a:prstGeom>
          <a:noFill/>
          <a:ln/>
        </p:spPr>
        <p:txBody>
          <a:bodyPr anchor="ctr" bIns="0" lIns="0" numCol="1" rIns="0" rtlCol="0" tIns="0" wrap="square"/>
          <a:lstStyle/>
          <a:p>
            <a:pPr algn="ctr" indent="0" marL="0">
              <a:buNone/>
            </a:pPr>
            <a:r>
              <a:rPr b="1" dirty="0" lang="en-US" sz="900">
                <a:solidFill>
                  <a:srgbClr val="0A1628"/>
                </a:solidFill>
                <a:latin charset="0" pitchFamily="34" typeface="Calibri"/>
                <a:ea charset="-122" pitchFamily="34" typeface="Calibri"/>
                <a:cs charset="-120" pitchFamily="34" typeface="Calibri"/>
              </a:rPr>
              <a:t>NEUTRAL</a:t>
            </a:r>
            <a:endParaRPr dirty="0" lang="en-US" sz="900"/>
          </a:p>
        </p:txBody>
      </p:sp>
      <p:sp>
        <p:nvSpPr>
          <p:cNvPr id="80" name="Text 78"/>
          <p:cNvSpPr/>
          <p:nvPr/>
        </p:nvSpPr>
        <p:spPr>
          <a:xfrm>
            <a:off x="1371600" y="4123944"/>
            <a:ext cx="4389120" cy="274320"/>
          </a:xfrm>
          <a:prstGeom prst="rect">
            <a:avLst/>
          </a:prstGeom>
          <a:noFill/>
          <a:ln/>
        </p:spPr>
        <p:txBody>
          <a:bodyPr anchor="ctr" bIns="0" lIns="0" numCol="1" rIns="0" rtlCol="0" tIns="0" wrap="square"/>
          <a:lstStyle/>
          <a:p>
            <a:pPr indent="0" marL="0">
              <a:buNone/>
            </a:pPr>
            <a:r>
              <a:rPr dirty="0" lang="en-US" sz="1000">
                <a:solidFill>
                  <a:srgbClr val="FFFFFF"/>
                </a:solidFill>
                <a:latin charset="0" pitchFamily="34" typeface="Calibri"/>
                <a:ea charset="-122" pitchFamily="34" typeface="Calibri"/>
                <a:cs charset="-120" pitchFamily="34" typeface="Calibri"/>
              </a:rPr>
              <a:t>I am not sure whether I like this product or not.</a:t>
            </a:r>
            <a:endParaRPr dirty="0" lang="en-US" sz="1000"/>
          </a:p>
        </p:txBody>
      </p:sp>
      <p:sp>
        <p:nvSpPr>
          <p:cNvPr id="81" name="Text 79"/>
          <p:cNvSpPr/>
          <p:nvPr/>
        </p:nvSpPr>
        <p:spPr>
          <a:xfrm>
            <a:off x="5989320" y="4123944"/>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POS</a:t>
            </a:r>
            <a:endParaRPr dirty="0" lang="en-US" sz="700"/>
          </a:p>
        </p:txBody>
      </p:sp>
      <p:sp>
        <p:nvSpPr>
          <p:cNvPr id="82" name="Shape 80"/>
          <p:cNvSpPr/>
          <p:nvPr/>
        </p:nvSpPr>
        <p:spPr>
          <a:xfrm>
            <a:off x="5989320" y="4334256"/>
            <a:ext cx="822960" cy="109728"/>
          </a:xfrm>
          <a:prstGeom prst="rect">
            <a:avLst/>
          </a:prstGeom>
          <a:solidFill>
            <a:srgbClr val="1A3A6B"/>
          </a:solidFill>
          <a:ln w="12700">
            <a:solidFill>
              <a:srgbClr val="1A3A6B"/>
            </a:solidFill>
            <a:prstDash val="solid"/>
          </a:ln>
        </p:spPr>
      </p:sp>
      <p:sp>
        <p:nvSpPr>
          <p:cNvPr id="83" name="Shape 81"/>
          <p:cNvSpPr/>
          <p:nvPr/>
        </p:nvSpPr>
        <p:spPr>
          <a:xfrm>
            <a:off x="5989320" y="4334256"/>
            <a:ext cx="123444" cy="109728"/>
          </a:xfrm>
          <a:prstGeom prst="rect">
            <a:avLst/>
          </a:prstGeom>
          <a:solidFill>
            <a:srgbClr val="00C48C"/>
          </a:solidFill>
          <a:ln w="12700">
            <a:solidFill>
              <a:srgbClr val="00C48C"/>
            </a:solidFill>
            <a:prstDash val="solid"/>
          </a:ln>
        </p:spPr>
      </p:sp>
      <p:sp>
        <p:nvSpPr>
          <p:cNvPr id="84" name="Text 82"/>
          <p:cNvSpPr/>
          <p:nvPr/>
        </p:nvSpPr>
        <p:spPr>
          <a:xfrm>
            <a:off x="5989320" y="4471416"/>
            <a:ext cx="822960" cy="164592"/>
          </a:xfrm>
          <a:prstGeom prst="rect">
            <a:avLst/>
          </a:prstGeom>
          <a:noFill/>
          <a:ln/>
        </p:spPr>
        <p:txBody>
          <a:bodyPr anchor="ctr" bIns="0" lIns="0" numCol="1" rIns="0" rtlCol="0" tIns="0" wrap="square"/>
          <a:lstStyle/>
          <a:p>
            <a:pPr algn="ctr" indent="0" marL="0">
              <a:buNone/>
            </a:pPr>
            <a:r>
              <a:rPr dirty="0" lang="en-US" sz="800">
                <a:solidFill>
                  <a:srgbClr val="00C48C"/>
                </a:solidFill>
                <a:latin charset="0" pitchFamily="34" typeface="Calibri"/>
                <a:ea charset="-122" pitchFamily="34" typeface="Calibri"/>
                <a:cs charset="-120" pitchFamily="34" typeface="Calibri"/>
              </a:rPr>
              <a:t>15%</a:t>
            </a:r>
            <a:endParaRPr dirty="0" lang="en-US" sz="800"/>
          </a:p>
        </p:txBody>
      </p:sp>
      <p:sp>
        <p:nvSpPr>
          <p:cNvPr id="85" name="Text 83"/>
          <p:cNvSpPr/>
          <p:nvPr/>
        </p:nvSpPr>
        <p:spPr>
          <a:xfrm>
            <a:off x="6949440" y="4123944"/>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NEU</a:t>
            </a:r>
            <a:endParaRPr dirty="0" lang="en-US" sz="700"/>
          </a:p>
        </p:txBody>
      </p:sp>
      <p:sp>
        <p:nvSpPr>
          <p:cNvPr id="86" name="Shape 84"/>
          <p:cNvSpPr/>
          <p:nvPr/>
        </p:nvSpPr>
        <p:spPr>
          <a:xfrm>
            <a:off x="6949440" y="4334256"/>
            <a:ext cx="822960" cy="109728"/>
          </a:xfrm>
          <a:prstGeom prst="rect">
            <a:avLst/>
          </a:prstGeom>
          <a:solidFill>
            <a:srgbClr val="1A3A6B"/>
          </a:solidFill>
          <a:ln w="12700">
            <a:solidFill>
              <a:srgbClr val="1A3A6B"/>
            </a:solidFill>
            <a:prstDash val="solid"/>
          </a:ln>
        </p:spPr>
      </p:sp>
      <p:sp>
        <p:nvSpPr>
          <p:cNvPr id="87" name="Shape 85"/>
          <p:cNvSpPr/>
          <p:nvPr/>
        </p:nvSpPr>
        <p:spPr>
          <a:xfrm>
            <a:off x="6949440" y="4334256"/>
            <a:ext cx="559613" cy="109728"/>
          </a:xfrm>
          <a:prstGeom prst="rect">
            <a:avLst/>
          </a:prstGeom>
          <a:solidFill>
            <a:srgbClr val="6B7280"/>
          </a:solidFill>
          <a:ln w="12700">
            <a:solidFill>
              <a:srgbClr val="6B7280"/>
            </a:solidFill>
            <a:prstDash val="solid"/>
          </a:ln>
        </p:spPr>
      </p:sp>
      <p:sp>
        <p:nvSpPr>
          <p:cNvPr id="88" name="Text 86"/>
          <p:cNvSpPr/>
          <p:nvPr/>
        </p:nvSpPr>
        <p:spPr>
          <a:xfrm>
            <a:off x="6949440" y="4471416"/>
            <a:ext cx="822960" cy="164592"/>
          </a:xfrm>
          <a:prstGeom prst="rect">
            <a:avLst/>
          </a:prstGeom>
          <a:noFill/>
          <a:ln/>
        </p:spPr>
        <p:txBody>
          <a:bodyPr anchor="ctr" bIns="0" lIns="0" numCol="1" rIns="0" rtlCol="0" tIns="0" wrap="square"/>
          <a:lstStyle/>
          <a:p>
            <a:pPr algn="ctr" indent="0" marL="0">
              <a:buNone/>
            </a:pPr>
            <a:r>
              <a:rPr dirty="0" lang="en-US" sz="800">
                <a:solidFill>
                  <a:srgbClr val="6B7280"/>
                </a:solidFill>
                <a:latin charset="0" pitchFamily="34" typeface="Calibri"/>
                <a:ea charset="-122" pitchFamily="34" typeface="Calibri"/>
                <a:cs charset="-120" pitchFamily="34" typeface="Calibri"/>
              </a:rPr>
              <a:t>68%</a:t>
            </a:r>
            <a:endParaRPr dirty="0" lang="en-US" sz="800"/>
          </a:p>
        </p:txBody>
      </p:sp>
      <p:sp>
        <p:nvSpPr>
          <p:cNvPr id="89" name="Text 87"/>
          <p:cNvSpPr/>
          <p:nvPr/>
        </p:nvSpPr>
        <p:spPr>
          <a:xfrm>
            <a:off x="7909560" y="4123944"/>
            <a:ext cx="411480" cy="182880"/>
          </a:xfrm>
          <a:prstGeom prst="rect">
            <a:avLst/>
          </a:prstGeom>
          <a:noFill/>
          <a:ln/>
        </p:spPr>
        <p:txBody>
          <a:bodyPr anchor="ctr" bIns="0" lIns="0" numCol="1" rIns="0" rtlCol="0" tIns="0" wrap="square"/>
          <a:lstStyle/>
          <a:p>
            <a:pPr indent="0" marL="0">
              <a:buNone/>
            </a:pPr>
            <a:r>
              <a:rPr dirty="0" lang="en-US" sz="700">
                <a:solidFill>
                  <a:srgbClr val="8EAAD4"/>
                </a:solidFill>
                <a:latin charset="0" pitchFamily="34" typeface="Calibri"/>
                <a:ea charset="-122" pitchFamily="34" typeface="Calibri"/>
                <a:cs charset="-120" pitchFamily="34" typeface="Calibri"/>
              </a:rPr>
              <a:t>NEG</a:t>
            </a:r>
            <a:endParaRPr dirty="0" lang="en-US" sz="700"/>
          </a:p>
        </p:txBody>
      </p:sp>
      <p:sp>
        <p:nvSpPr>
          <p:cNvPr id="90" name="Shape 88"/>
          <p:cNvSpPr/>
          <p:nvPr/>
        </p:nvSpPr>
        <p:spPr>
          <a:xfrm>
            <a:off x="7909560" y="4334256"/>
            <a:ext cx="822960" cy="109728"/>
          </a:xfrm>
          <a:prstGeom prst="rect">
            <a:avLst/>
          </a:prstGeom>
          <a:solidFill>
            <a:srgbClr val="1A3A6B"/>
          </a:solidFill>
          <a:ln w="12700">
            <a:solidFill>
              <a:srgbClr val="1A3A6B"/>
            </a:solidFill>
            <a:prstDash val="solid"/>
          </a:ln>
        </p:spPr>
      </p:sp>
      <p:sp>
        <p:nvSpPr>
          <p:cNvPr id="91" name="Shape 89"/>
          <p:cNvSpPr/>
          <p:nvPr/>
        </p:nvSpPr>
        <p:spPr>
          <a:xfrm>
            <a:off x="7909560" y="4334256"/>
            <a:ext cx="139903" cy="109728"/>
          </a:xfrm>
          <a:prstGeom prst="rect">
            <a:avLst/>
          </a:prstGeom>
          <a:solidFill>
            <a:srgbClr val="EF4444"/>
          </a:solidFill>
          <a:ln w="12700">
            <a:solidFill>
              <a:srgbClr val="EF4444"/>
            </a:solidFill>
            <a:prstDash val="solid"/>
          </a:ln>
        </p:spPr>
      </p:sp>
      <p:sp>
        <p:nvSpPr>
          <p:cNvPr id="92" name="Text 90"/>
          <p:cNvSpPr/>
          <p:nvPr/>
        </p:nvSpPr>
        <p:spPr>
          <a:xfrm>
            <a:off x="7909560" y="4471416"/>
            <a:ext cx="822960" cy="164592"/>
          </a:xfrm>
          <a:prstGeom prst="rect">
            <a:avLst/>
          </a:prstGeom>
          <a:noFill/>
          <a:ln/>
        </p:spPr>
        <p:txBody>
          <a:bodyPr anchor="ctr" bIns="0" lIns="0" numCol="1" rIns="0" rtlCol="0" tIns="0" wrap="square"/>
          <a:lstStyle/>
          <a:p>
            <a:pPr algn="ctr" indent="0" marL="0">
              <a:buNone/>
            </a:pPr>
            <a:r>
              <a:rPr dirty="0" lang="en-US" sz="800">
                <a:solidFill>
                  <a:srgbClr val="EF4444"/>
                </a:solidFill>
                <a:latin charset="0" pitchFamily="34" typeface="Calibri"/>
                <a:ea charset="-122" pitchFamily="34" typeface="Calibri"/>
                <a:cs charset="-120" pitchFamily="34" typeface="Calibri"/>
              </a:rPr>
              <a:t>17%</a:t>
            </a:r>
            <a:endParaRPr dirty="0" lang="en-US" sz="800"/>
          </a:p>
        </p:txBody>
      </p:sp>
      <p:sp>
        <p:nvSpPr>
          <p:cNvPr id="93" name="Text 91"/>
          <p:cNvSpPr/>
          <p:nvPr/>
        </p:nvSpPr>
        <p:spPr>
          <a:xfrm>
            <a:off x="1371600" y="4425696"/>
            <a:ext cx="2286000" cy="219456"/>
          </a:xfrm>
          <a:prstGeom prst="rect">
            <a:avLst/>
          </a:prstGeom>
          <a:noFill/>
          <a:ln/>
        </p:spPr>
        <p:txBody>
          <a:bodyPr anchor="ctr" bIns="0" lIns="0" numCol="1" rIns="0" rtlCol="0" tIns="0" wrap="square"/>
          <a:lstStyle/>
          <a:p>
            <a:pPr indent="0" marL="0">
              <a:buNone/>
            </a:pPr>
            <a:r>
              <a:rPr b="1" dirty="0" lang="en-US" sz="900">
                <a:solidFill>
                  <a:srgbClr val="FF8C42"/>
                </a:solidFill>
                <a:latin charset="0" pitchFamily="34" typeface="Calibri"/>
                <a:ea charset="-122" pitchFamily="34" typeface="Calibri"/>
                <a:cs charset="-120" pitchFamily="34" typeface="Calibri"/>
              </a:rPr>
              <a:t>⚡ NEUTRAL</a:t>
            </a:r>
            <a:endParaRPr dirty="0"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Conclusion</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228600" y="960120"/>
            <a:ext cx="8686800" cy="1188720"/>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9" name="Shape 7"/>
          <p:cNvSpPr/>
          <p:nvPr/>
        </p:nvSpPr>
        <p:spPr>
          <a:xfrm>
            <a:off x="228600" y="960120"/>
            <a:ext cx="64008" cy="1188720"/>
          </a:xfrm>
          <a:prstGeom prst="rect">
            <a:avLst/>
          </a:prstGeom>
          <a:solidFill>
            <a:srgbClr val="00B4D8"/>
          </a:solidFill>
          <a:ln w="12700">
            <a:solidFill>
              <a:srgbClr val="00B4D8"/>
            </a:solidFill>
            <a:prstDash val="solid"/>
          </a:ln>
        </p:spPr>
      </p:sp>
      <p:sp>
        <p:nvSpPr>
          <p:cNvPr id="10" name="Text 8"/>
          <p:cNvSpPr/>
          <p:nvPr/>
        </p:nvSpPr>
        <p:spPr>
          <a:xfrm>
            <a:off x="411480" y="1005840"/>
            <a:ext cx="8321040" cy="1097280"/>
          </a:xfrm>
          <a:prstGeom prst="rect">
            <a:avLst/>
          </a:prstGeom>
          <a:noFill/>
          <a:ln/>
        </p:spPr>
        <p:txBody>
          <a:bodyPr anchor="ctr" bIns="0" lIns="0" numCol="1" rIns="0" rtlCol="0" tIns="0" wrap="square"/>
          <a:lstStyle/>
          <a:p>
            <a:pPr indent="0" marL="0">
              <a:buNone/>
            </a:pPr>
            <a:r>
              <a:rPr dirty="0" lang="en-US" sz="1100">
                <a:solidFill>
                  <a:srgbClr val="90E0EF"/>
                </a:solidFill>
                <a:latin charset="0" pitchFamily="34" typeface="Calibri"/>
                <a:ea charset="-122" pitchFamily="34" typeface="Calibri"/>
                <a:cs charset="-120" pitchFamily="34" typeface="Calibri"/>
              </a:rPr>
              <a:t>This project successfully demonstrates how AI and Natural Language Processing (NLP) can be used to automatically classify text sentiment as Positive, Neutral, or Negative with high accuracy. Using Hugging Face's pre-trained RoBERTa and DistilRoBERTa models via the free Inference API, the system provides real-time sentiment and emotion detection without the need for model training.</a:t>
            </a:r>
            <a:endParaRPr dirty="0" lang="en-US" sz="1100"/>
          </a:p>
        </p:txBody>
      </p:sp>
      <p:sp>
        <p:nvSpPr>
          <p:cNvPr id="11" name="Text 9"/>
          <p:cNvSpPr/>
          <p:nvPr/>
        </p:nvSpPr>
        <p:spPr>
          <a:xfrm>
            <a:off x="274320" y="2286000"/>
            <a:ext cx="502920" cy="502920"/>
          </a:xfrm>
          <a:prstGeom prst="rect">
            <a:avLst/>
          </a:prstGeom>
          <a:noFill/>
          <a:ln/>
        </p:spPr>
        <p:txBody>
          <a:bodyPr anchor="ctr" bIns="0" lIns="0" numCol="1" rIns="0" rtlCol="0" tIns="0" wrap="square"/>
          <a:lstStyle/>
          <a:p>
            <a:pPr indent="0" marL="0">
              <a:buNone/>
            </a:pPr>
            <a:r>
              <a:rPr dirty="0" lang="en-US" sz="1600">
                <a:solidFill>
                  <a:srgbClr val="00C48C"/>
                </a:solidFill>
              </a:rPr>
              <a:t>✅  </a:t>
            </a:r>
            <a:endParaRPr dirty="0" lang="en-US" sz="1600"/>
          </a:p>
        </p:txBody>
      </p:sp>
      <p:sp>
        <p:nvSpPr>
          <p:cNvPr id="12" name="Text 10"/>
          <p:cNvSpPr/>
          <p:nvPr/>
        </p:nvSpPr>
        <p:spPr>
          <a:xfrm>
            <a:off x="777240" y="2359152"/>
            <a:ext cx="1371600" cy="274320"/>
          </a:xfrm>
          <a:prstGeom prst="rect">
            <a:avLst/>
          </a:prstGeom>
          <a:noFill/>
          <a:ln/>
        </p:spPr>
        <p:txBody>
          <a:bodyPr anchor="ctr" bIns="0" lIns="0" numCol="1" rIns="0" rtlCol="0" tIns="0" wrap="square"/>
          <a:lstStyle/>
          <a:p>
            <a:pPr indent="0" marL="0">
              <a:buNone/>
            </a:pPr>
            <a:r>
              <a:rPr b="1" dirty="0" lang="en-US" sz="1200">
                <a:solidFill>
                  <a:srgbClr val="00B4D8"/>
                </a:solidFill>
                <a:latin charset="0" pitchFamily="34" typeface="Calibri"/>
                <a:ea charset="-122" pitchFamily="34" typeface="Calibri"/>
                <a:cs charset="-120" pitchFamily="34" typeface="Calibri"/>
              </a:rPr>
              <a:t>Accuracy: </a:t>
            </a:r>
            <a:endParaRPr dirty="0" lang="en-US" sz="1200"/>
          </a:p>
        </p:txBody>
      </p:sp>
      <p:sp>
        <p:nvSpPr>
          <p:cNvPr id="13" name="Text 11"/>
          <p:cNvSpPr/>
          <p:nvPr/>
        </p:nvSpPr>
        <p:spPr>
          <a:xfrm>
            <a:off x="2194560" y="2359152"/>
            <a:ext cx="6675120" cy="274320"/>
          </a:xfrm>
          <a:prstGeom prst="rect">
            <a:avLst/>
          </a:prstGeom>
          <a:noFill/>
          <a:ln/>
        </p:spPr>
        <p:txBody>
          <a:bodyPr anchor="ctr" bIns="0" lIns="0" numCol="1" rIns="0" rtlCol="0" tIns="0" wrap="square"/>
          <a:lstStyle/>
          <a:p>
            <a:pPr indent="0" marL="0">
              <a:buNone/>
            </a:pPr>
            <a:r>
              <a:rPr dirty="0" lang="en-US" sz="1100">
                <a:solidFill>
                  <a:srgbClr val="90E0EF"/>
                </a:solidFill>
                <a:latin charset="0" pitchFamily="34" typeface="Calibri"/>
                <a:ea charset="-122" pitchFamily="34" typeface="Calibri"/>
                <a:cs charset="-120" pitchFamily="34" typeface="Calibri"/>
              </a:rPr>
              <a:t>State-of-the-art RoBERTa model achieves &gt;95% accuracy on standard NLP benchmarks.</a:t>
            </a:r>
            <a:endParaRPr dirty="0" lang="en-US" sz="1100"/>
          </a:p>
        </p:txBody>
      </p:sp>
      <p:sp>
        <p:nvSpPr>
          <p:cNvPr id="14" name="Shape 12"/>
          <p:cNvSpPr/>
          <p:nvPr/>
        </p:nvSpPr>
        <p:spPr>
          <a:xfrm>
            <a:off x="274320" y="2816352"/>
            <a:ext cx="8595360" cy="9144"/>
          </a:xfrm>
          <a:prstGeom prst="rect">
            <a:avLst/>
          </a:prstGeom>
          <a:solidFill>
            <a:srgbClr val="1A3A6B"/>
          </a:solidFill>
          <a:ln w="12700">
            <a:solidFill>
              <a:srgbClr val="1A3A6B"/>
            </a:solidFill>
            <a:prstDash val="solid"/>
          </a:ln>
        </p:spPr>
      </p:sp>
      <p:sp>
        <p:nvSpPr>
          <p:cNvPr id="15" name="Text 13"/>
          <p:cNvSpPr/>
          <p:nvPr/>
        </p:nvSpPr>
        <p:spPr>
          <a:xfrm>
            <a:off x="274320" y="2926080"/>
            <a:ext cx="502920" cy="502920"/>
          </a:xfrm>
          <a:prstGeom prst="rect">
            <a:avLst/>
          </a:prstGeom>
          <a:noFill/>
          <a:ln/>
        </p:spPr>
        <p:txBody>
          <a:bodyPr anchor="ctr" bIns="0" lIns="0" numCol="1" rIns="0" rtlCol="0" tIns="0" wrap="square"/>
          <a:lstStyle/>
          <a:p>
            <a:pPr indent="0" marL="0">
              <a:buNone/>
            </a:pPr>
            <a:r>
              <a:rPr dirty="0" lang="en-US" sz="1600">
                <a:solidFill>
                  <a:srgbClr val="00C48C"/>
                </a:solidFill>
              </a:rPr>
              <a:t>✅  </a:t>
            </a:r>
            <a:endParaRPr dirty="0" lang="en-US" sz="1600"/>
          </a:p>
        </p:txBody>
      </p:sp>
      <p:sp>
        <p:nvSpPr>
          <p:cNvPr id="16" name="Text 14"/>
          <p:cNvSpPr/>
          <p:nvPr/>
        </p:nvSpPr>
        <p:spPr>
          <a:xfrm>
            <a:off x="777240" y="2999232"/>
            <a:ext cx="1371600" cy="274320"/>
          </a:xfrm>
          <a:prstGeom prst="rect">
            <a:avLst/>
          </a:prstGeom>
          <a:noFill/>
          <a:ln/>
        </p:spPr>
        <p:txBody>
          <a:bodyPr anchor="ctr" bIns="0" lIns="0" numCol="1" rIns="0" rtlCol="0" tIns="0" wrap="square"/>
          <a:lstStyle/>
          <a:p>
            <a:pPr indent="0" marL="0">
              <a:buNone/>
            </a:pPr>
            <a:r>
              <a:rPr b="1" dirty="0" lang="en-US" sz="1200">
                <a:solidFill>
                  <a:srgbClr val="00B4D8"/>
                </a:solidFill>
                <a:latin charset="0" pitchFamily="34" typeface="Calibri"/>
                <a:ea charset="-122" pitchFamily="34" typeface="Calibri"/>
                <a:cs charset="-120" pitchFamily="34" typeface="Calibri"/>
              </a:rPr>
              <a:t>Ease of Use: </a:t>
            </a:r>
            <a:endParaRPr dirty="0" lang="en-US" sz="1200"/>
          </a:p>
        </p:txBody>
      </p:sp>
      <p:sp>
        <p:nvSpPr>
          <p:cNvPr id="17" name="Text 15"/>
          <p:cNvSpPr/>
          <p:nvPr/>
        </p:nvSpPr>
        <p:spPr>
          <a:xfrm>
            <a:off x="2194560" y="2999232"/>
            <a:ext cx="6675120" cy="274320"/>
          </a:xfrm>
          <a:prstGeom prst="rect">
            <a:avLst/>
          </a:prstGeom>
          <a:noFill/>
          <a:ln/>
        </p:spPr>
        <p:txBody>
          <a:bodyPr anchor="ctr" bIns="0" lIns="0" numCol="1" rIns="0" rtlCol="0" tIns="0" wrap="square"/>
          <a:lstStyle/>
          <a:p>
            <a:pPr indent="0" marL="0">
              <a:buNone/>
            </a:pPr>
            <a:r>
              <a:rPr dirty="0" lang="en-US" sz="1100">
                <a:solidFill>
                  <a:srgbClr val="90E0EF"/>
                </a:solidFill>
                <a:latin charset="0" pitchFamily="34" typeface="Calibri"/>
                <a:ea charset="-122" pitchFamily="34" typeface="Calibri"/>
                <a:cs charset="-120" pitchFamily="34" typeface="Calibri"/>
              </a:rPr>
              <a:t>No local installation required — runs entirely in Kaggle Notebooks via browser.</a:t>
            </a:r>
            <a:endParaRPr dirty="0" lang="en-US" sz="1100"/>
          </a:p>
        </p:txBody>
      </p:sp>
      <p:sp>
        <p:nvSpPr>
          <p:cNvPr id="18" name="Shape 16"/>
          <p:cNvSpPr/>
          <p:nvPr/>
        </p:nvSpPr>
        <p:spPr>
          <a:xfrm>
            <a:off x="274320" y="3456432"/>
            <a:ext cx="8595360" cy="9144"/>
          </a:xfrm>
          <a:prstGeom prst="rect">
            <a:avLst/>
          </a:prstGeom>
          <a:solidFill>
            <a:srgbClr val="1A3A6B"/>
          </a:solidFill>
          <a:ln w="12700">
            <a:solidFill>
              <a:srgbClr val="1A3A6B"/>
            </a:solidFill>
            <a:prstDash val="solid"/>
          </a:ln>
        </p:spPr>
      </p:sp>
      <p:sp>
        <p:nvSpPr>
          <p:cNvPr id="19" name="Text 17"/>
          <p:cNvSpPr/>
          <p:nvPr/>
        </p:nvSpPr>
        <p:spPr>
          <a:xfrm>
            <a:off x="274320" y="3566160"/>
            <a:ext cx="502920" cy="502920"/>
          </a:xfrm>
          <a:prstGeom prst="rect">
            <a:avLst/>
          </a:prstGeom>
          <a:noFill/>
          <a:ln/>
        </p:spPr>
        <p:txBody>
          <a:bodyPr anchor="ctr" bIns="0" lIns="0" numCol="1" rIns="0" rtlCol="0" tIns="0" wrap="square"/>
          <a:lstStyle/>
          <a:p>
            <a:pPr indent="0" marL="0">
              <a:buNone/>
            </a:pPr>
            <a:r>
              <a:rPr dirty="0" lang="en-US" sz="1600">
                <a:solidFill>
                  <a:srgbClr val="00C48C"/>
                </a:solidFill>
              </a:rPr>
              <a:t>✅  </a:t>
            </a:r>
            <a:endParaRPr dirty="0" lang="en-US" sz="1600"/>
          </a:p>
        </p:txBody>
      </p:sp>
      <p:sp>
        <p:nvSpPr>
          <p:cNvPr id="20" name="Text 18"/>
          <p:cNvSpPr/>
          <p:nvPr/>
        </p:nvSpPr>
        <p:spPr>
          <a:xfrm>
            <a:off x="777240" y="3639312"/>
            <a:ext cx="1371600" cy="274320"/>
          </a:xfrm>
          <a:prstGeom prst="rect">
            <a:avLst/>
          </a:prstGeom>
          <a:noFill/>
          <a:ln/>
        </p:spPr>
        <p:txBody>
          <a:bodyPr anchor="ctr" bIns="0" lIns="0" numCol="1" rIns="0" rtlCol="0" tIns="0" wrap="square"/>
          <a:lstStyle/>
          <a:p>
            <a:pPr indent="0" marL="0">
              <a:buNone/>
            </a:pPr>
            <a:r>
              <a:rPr b="1" dirty="0" lang="en-US" sz="1200">
                <a:solidFill>
                  <a:srgbClr val="00B4D8"/>
                </a:solidFill>
                <a:latin charset="0" pitchFamily="34" typeface="Calibri"/>
                <a:ea charset="-122" pitchFamily="34" typeface="Calibri"/>
                <a:cs charset="-120" pitchFamily="34" typeface="Calibri"/>
              </a:rPr>
              <a:t>Scalable: </a:t>
            </a:r>
            <a:endParaRPr dirty="0" lang="en-US" sz="1200"/>
          </a:p>
        </p:txBody>
      </p:sp>
      <p:sp>
        <p:nvSpPr>
          <p:cNvPr id="21" name="Text 19"/>
          <p:cNvSpPr/>
          <p:nvPr/>
        </p:nvSpPr>
        <p:spPr>
          <a:xfrm>
            <a:off x="2194560" y="3639312"/>
            <a:ext cx="6675120" cy="274320"/>
          </a:xfrm>
          <a:prstGeom prst="rect">
            <a:avLst/>
          </a:prstGeom>
          <a:noFill/>
          <a:ln/>
        </p:spPr>
        <p:txBody>
          <a:bodyPr anchor="ctr" bIns="0" lIns="0" numCol="1" rIns="0" rtlCol="0" tIns="0" wrap="square"/>
          <a:lstStyle/>
          <a:p>
            <a:pPr indent="0" marL="0">
              <a:buNone/>
            </a:pPr>
            <a:r>
              <a:rPr dirty="0" lang="en-US" sz="1100">
                <a:solidFill>
                  <a:srgbClr val="90E0EF"/>
                </a:solidFill>
                <a:latin charset="0" pitchFamily="34" typeface="Calibri"/>
                <a:ea charset="-122" pitchFamily="34" typeface="Calibri"/>
                <a:cs charset="-120" pitchFamily="34" typeface="Calibri"/>
              </a:rPr>
              <a:t>API-based architecture easily scales to analyze thousands of texts per day.</a:t>
            </a:r>
            <a:endParaRPr dirty="0" lang="en-US" sz="1100"/>
          </a:p>
        </p:txBody>
      </p:sp>
      <p:sp>
        <p:nvSpPr>
          <p:cNvPr id="22" name="Shape 20"/>
          <p:cNvSpPr/>
          <p:nvPr/>
        </p:nvSpPr>
        <p:spPr>
          <a:xfrm>
            <a:off x="274320" y="4096512"/>
            <a:ext cx="8595360" cy="9144"/>
          </a:xfrm>
          <a:prstGeom prst="rect">
            <a:avLst/>
          </a:prstGeom>
          <a:solidFill>
            <a:srgbClr val="1A3A6B"/>
          </a:solidFill>
          <a:ln w="12700">
            <a:solidFill>
              <a:srgbClr val="1A3A6B"/>
            </a:solidFill>
            <a:prstDash val="solid"/>
          </a:ln>
        </p:spPr>
      </p:sp>
      <p:sp>
        <p:nvSpPr>
          <p:cNvPr id="23" name="Text 21"/>
          <p:cNvSpPr/>
          <p:nvPr/>
        </p:nvSpPr>
        <p:spPr>
          <a:xfrm>
            <a:off x="274320" y="4206240"/>
            <a:ext cx="502920" cy="502920"/>
          </a:xfrm>
          <a:prstGeom prst="rect">
            <a:avLst/>
          </a:prstGeom>
          <a:noFill/>
          <a:ln/>
        </p:spPr>
        <p:txBody>
          <a:bodyPr anchor="ctr" bIns="0" lIns="0" numCol="1" rIns="0" rtlCol="0" tIns="0" wrap="square"/>
          <a:lstStyle/>
          <a:p>
            <a:pPr indent="0" marL="0">
              <a:buNone/>
            </a:pPr>
            <a:r>
              <a:rPr dirty="0" lang="en-US" sz="1600">
                <a:solidFill>
                  <a:srgbClr val="00C48C"/>
                </a:solidFill>
              </a:rPr>
              <a:t>✅  </a:t>
            </a:r>
            <a:endParaRPr dirty="0" lang="en-US" sz="1600"/>
          </a:p>
        </p:txBody>
      </p:sp>
      <p:sp>
        <p:nvSpPr>
          <p:cNvPr id="24" name="Text 22"/>
          <p:cNvSpPr/>
          <p:nvPr/>
        </p:nvSpPr>
        <p:spPr>
          <a:xfrm>
            <a:off x="777240" y="4279392"/>
            <a:ext cx="1371600" cy="274320"/>
          </a:xfrm>
          <a:prstGeom prst="rect">
            <a:avLst/>
          </a:prstGeom>
          <a:noFill/>
          <a:ln/>
        </p:spPr>
        <p:txBody>
          <a:bodyPr anchor="ctr" bIns="0" lIns="0" numCol="1" rIns="0" rtlCol="0" tIns="0" wrap="square"/>
          <a:lstStyle/>
          <a:p>
            <a:pPr indent="0" marL="0">
              <a:buNone/>
            </a:pPr>
            <a:r>
              <a:rPr b="1" dirty="0" lang="en-US" sz="1200">
                <a:solidFill>
                  <a:srgbClr val="00B4D8"/>
                </a:solidFill>
                <a:latin charset="0" pitchFamily="34" typeface="Calibri"/>
                <a:ea charset="-122" pitchFamily="34" typeface="Calibri"/>
                <a:cs charset="-120" pitchFamily="34" typeface="Calibri"/>
              </a:rPr>
              <a:t>Dual Analysis: </a:t>
            </a:r>
            <a:endParaRPr dirty="0" lang="en-US" sz="1200"/>
          </a:p>
        </p:txBody>
      </p:sp>
      <p:sp>
        <p:nvSpPr>
          <p:cNvPr id="25" name="Text 23"/>
          <p:cNvSpPr/>
          <p:nvPr/>
        </p:nvSpPr>
        <p:spPr>
          <a:xfrm>
            <a:off x="2194560" y="4279392"/>
            <a:ext cx="6675120" cy="274320"/>
          </a:xfrm>
          <a:prstGeom prst="rect">
            <a:avLst/>
          </a:prstGeom>
          <a:noFill/>
          <a:ln/>
        </p:spPr>
        <p:txBody>
          <a:bodyPr anchor="ctr" bIns="0" lIns="0" numCol="1" rIns="0" rtlCol="0" tIns="0" wrap="square"/>
          <a:lstStyle/>
          <a:p>
            <a:pPr indent="0" marL="0">
              <a:buNone/>
            </a:pPr>
            <a:r>
              <a:rPr dirty="0" lang="en-US" sz="1100">
                <a:solidFill>
                  <a:srgbClr val="90E0EF"/>
                </a:solidFill>
                <a:latin charset="0" pitchFamily="34" typeface="Calibri"/>
                <a:ea charset="-122" pitchFamily="34" typeface="Calibri"/>
                <a:cs charset="-120" pitchFamily="34" typeface="Calibri"/>
              </a:rPr>
              <a:t>Combines both sentiment classification and emotion detection in a single pipeline.</a:t>
            </a:r>
            <a:endParaRPr dirty="0" lang="en-US" sz="1100"/>
          </a:p>
        </p:txBody>
      </p:sp>
      <p:sp>
        <p:nvSpPr>
          <p:cNvPr id="26" name="Shape 24"/>
          <p:cNvSpPr/>
          <p:nvPr/>
        </p:nvSpPr>
        <p:spPr>
          <a:xfrm>
            <a:off x="274320" y="4736592"/>
            <a:ext cx="8595360" cy="9144"/>
          </a:xfrm>
          <a:prstGeom prst="rect">
            <a:avLst/>
          </a:prstGeom>
          <a:solidFill>
            <a:srgbClr val="1A3A6B"/>
          </a:solidFill>
          <a:ln w="12700">
            <a:solidFill>
              <a:srgbClr val="1A3A6B"/>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Future Scope</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182880" y="960120"/>
            <a:ext cx="4297680" cy="11704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9" name="Text 7"/>
          <p:cNvSpPr/>
          <p:nvPr/>
        </p:nvSpPr>
        <p:spPr>
          <a:xfrm>
            <a:off x="320040" y="1051560"/>
            <a:ext cx="502920" cy="502920"/>
          </a:xfrm>
          <a:prstGeom prst="rect">
            <a:avLst/>
          </a:prstGeom>
          <a:noFill/>
          <a:ln/>
        </p:spPr>
        <p:txBody>
          <a:bodyPr anchor="ctr" bIns="0" lIns="0" numCol="1" rIns="0" rtlCol="0" tIns="0" wrap="square"/>
          <a:lstStyle/>
          <a:p>
            <a:pPr indent="0" marL="0">
              <a:buNone/>
            </a:pPr>
            <a:r>
              <a:rPr dirty="0" lang="en-US" sz="2200">
                <a:solidFill>
                  <a:srgbClr val="00B4D8"/>
                </a:solidFill>
              </a:rPr>
              <a:t>🌐</a:t>
            </a:r>
            <a:endParaRPr dirty="0" lang="en-US" sz="2200"/>
          </a:p>
        </p:txBody>
      </p:sp>
      <p:sp>
        <p:nvSpPr>
          <p:cNvPr id="10" name="Text 8"/>
          <p:cNvSpPr/>
          <p:nvPr/>
        </p:nvSpPr>
        <p:spPr>
          <a:xfrm>
            <a:off x="868680" y="1051560"/>
            <a:ext cx="347472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Web Application</a:t>
            </a:r>
            <a:endParaRPr dirty="0" lang="en-US" sz="1300"/>
          </a:p>
        </p:txBody>
      </p:sp>
      <p:sp>
        <p:nvSpPr>
          <p:cNvPr id="11" name="Text 9"/>
          <p:cNvSpPr/>
          <p:nvPr/>
        </p:nvSpPr>
        <p:spPr>
          <a:xfrm>
            <a:off x="868680" y="1417320"/>
            <a:ext cx="3474720" cy="603504"/>
          </a:xfrm>
          <a:prstGeom prst="rect">
            <a:avLst/>
          </a:prstGeom>
          <a:noFill/>
          <a:ln/>
        </p:spPr>
        <p:txBody>
          <a:bodyPr anchor="ctr" bIns="0" lIns="0" numCol="1" rIns="0" rtlCol="0" tIns="0" wrap="square"/>
          <a:lstStyle/>
          <a:p>
            <a:pPr indent="0" marL="0">
              <a:buNone/>
            </a:pPr>
            <a:r>
              <a:rPr dirty="0" lang="en-US" sz="950">
                <a:solidFill>
                  <a:srgbClr val="8EAAD4"/>
                </a:solidFill>
                <a:latin charset="0" pitchFamily="34" typeface="Calibri"/>
                <a:ea charset="-122" pitchFamily="34" typeface="Calibri"/>
                <a:cs charset="-120" pitchFamily="34" typeface="Calibri"/>
              </a:rPr>
              <a:t>Build a Flask or FastAPI web app with a browser-based UI for real-time sentiment analysis by end users.</a:t>
            </a:r>
            <a:endParaRPr dirty="0" lang="en-US" sz="950"/>
          </a:p>
        </p:txBody>
      </p:sp>
      <p:sp>
        <p:nvSpPr>
          <p:cNvPr id="12" name="Shape 10"/>
          <p:cNvSpPr/>
          <p:nvPr/>
        </p:nvSpPr>
        <p:spPr>
          <a:xfrm>
            <a:off x="4754880" y="960120"/>
            <a:ext cx="4297680" cy="11704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3" name="Text 11"/>
          <p:cNvSpPr/>
          <p:nvPr/>
        </p:nvSpPr>
        <p:spPr>
          <a:xfrm>
            <a:off x="4892040" y="1051560"/>
            <a:ext cx="502920" cy="502920"/>
          </a:xfrm>
          <a:prstGeom prst="rect">
            <a:avLst/>
          </a:prstGeom>
          <a:noFill/>
          <a:ln/>
        </p:spPr>
        <p:txBody>
          <a:bodyPr anchor="ctr" bIns="0" lIns="0" numCol="1" rIns="0" rtlCol="0" tIns="0" wrap="square"/>
          <a:lstStyle/>
          <a:p>
            <a:pPr indent="0" marL="0">
              <a:buNone/>
            </a:pPr>
            <a:r>
              <a:rPr dirty="0" lang="en-US" sz="2200">
                <a:solidFill>
                  <a:srgbClr val="00B4D8"/>
                </a:solidFill>
              </a:rPr>
              <a:t>📱</a:t>
            </a:r>
            <a:endParaRPr dirty="0" lang="en-US" sz="2200"/>
          </a:p>
        </p:txBody>
      </p:sp>
      <p:sp>
        <p:nvSpPr>
          <p:cNvPr id="14" name="Text 12"/>
          <p:cNvSpPr/>
          <p:nvPr/>
        </p:nvSpPr>
        <p:spPr>
          <a:xfrm>
            <a:off x="5440680" y="1051560"/>
            <a:ext cx="347472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Mobile App</a:t>
            </a:r>
            <a:endParaRPr dirty="0" lang="en-US" sz="1300"/>
          </a:p>
        </p:txBody>
      </p:sp>
      <p:sp>
        <p:nvSpPr>
          <p:cNvPr id="15" name="Text 13"/>
          <p:cNvSpPr/>
          <p:nvPr/>
        </p:nvSpPr>
        <p:spPr>
          <a:xfrm>
            <a:off x="5440680" y="1417320"/>
            <a:ext cx="3474720" cy="603504"/>
          </a:xfrm>
          <a:prstGeom prst="rect">
            <a:avLst/>
          </a:prstGeom>
          <a:noFill/>
          <a:ln/>
        </p:spPr>
        <p:txBody>
          <a:bodyPr anchor="ctr" bIns="0" lIns="0" numCol="1" rIns="0" rtlCol="0" tIns="0" wrap="square"/>
          <a:lstStyle/>
          <a:p>
            <a:pPr indent="0" marL="0">
              <a:buNone/>
            </a:pPr>
            <a:r>
              <a:rPr dirty="0" lang="en-US" sz="950">
                <a:solidFill>
                  <a:srgbClr val="8EAAD4"/>
                </a:solidFill>
                <a:latin charset="0" pitchFamily="34" typeface="Calibri"/>
                <a:ea charset="-122" pitchFamily="34" typeface="Calibri"/>
                <a:cs charset="-120" pitchFamily="34" typeface="Calibri"/>
              </a:rPr>
              <a:t>Develop an Android/iOS app that allows users to paste text or scan reviews for instant sentiment feedback.</a:t>
            </a:r>
            <a:endParaRPr dirty="0" lang="en-US" sz="950"/>
          </a:p>
        </p:txBody>
      </p:sp>
      <p:sp>
        <p:nvSpPr>
          <p:cNvPr id="16" name="Shape 14"/>
          <p:cNvSpPr/>
          <p:nvPr/>
        </p:nvSpPr>
        <p:spPr>
          <a:xfrm>
            <a:off x="182880" y="2258568"/>
            <a:ext cx="4297680" cy="11704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17" name="Text 15"/>
          <p:cNvSpPr/>
          <p:nvPr/>
        </p:nvSpPr>
        <p:spPr>
          <a:xfrm>
            <a:off x="320040" y="2350008"/>
            <a:ext cx="502920" cy="502920"/>
          </a:xfrm>
          <a:prstGeom prst="rect">
            <a:avLst/>
          </a:prstGeom>
          <a:noFill/>
          <a:ln/>
        </p:spPr>
        <p:txBody>
          <a:bodyPr anchor="ctr" bIns="0" lIns="0" numCol="1" rIns="0" rtlCol="0" tIns="0" wrap="square"/>
          <a:lstStyle/>
          <a:p>
            <a:pPr indent="0" marL="0">
              <a:buNone/>
            </a:pPr>
            <a:r>
              <a:rPr dirty="0" lang="en-US" sz="2200">
                <a:solidFill>
                  <a:srgbClr val="00B4D8"/>
                </a:solidFill>
              </a:rPr>
              <a:t>🔗</a:t>
            </a:r>
            <a:endParaRPr dirty="0" lang="en-US" sz="2200"/>
          </a:p>
        </p:txBody>
      </p:sp>
      <p:sp>
        <p:nvSpPr>
          <p:cNvPr id="18" name="Text 16"/>
          <p:cNvSpPr/>
          <p:nvPr/>
        </p:nvSpPr>
        <p:spPr>
          <a:xfrm>
            <a:off x="868680" y="2350008"/>
            <a:ext cx="347472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Azure Integration</a:t>
            </a:r>
            <a:endParaRPr dirty="0" lang="en-US" sz="1300"/>
          </a:p>
        </p:txBody>
      </p:sp>
      <p:sp>
        <p:nvSpPr>
          <p:cNvPr id="19" name="Text 17"/>
          <p:cNvSpPr/>
          <p:nvPr/>
        </p:nvSpPr>
        <p:spPr>
          <a:xfrm>
            <a:off x="868680" y="2715768"/>
            <a:ext cx="3474720" cy="603504"/>
          </a:xfrm>
          <a:prstGeom prst="rect">
            <a:avLst/>
          </a:prstGeom>
          <a:noFill/>
          <a:ln/>
        </p:spPr>
        <p:txBody>
          <a:bodyPr anchor="ctr" bIns="0" lIns="0" numCol="1" rIns="0" rtlCol="0" tIns="0" wrap="square"/>
          <a:lstStyle/>
          <a:p>
            <a:pPr indent="0" marL="0">
              <a:buNone/>
            </a:pPr>
            <a:r>
              <a:rPr dirty="0" lang="en-US" sz="950">
                <a:solidFill>
                  <a:srgbClr val="8EAAD4"/>
                </a:solidFill>
                <a:latin charset="0" pitchFamily="34" typeface="Calibri"/>
                <a:ea charset="-122" pitchFamily="34" typeface="Calibri"/>
                <a:cs charset="-120" pitchFamily="34" typeface="Calibri"/>
              </a:rPr>
              <a:t>Migrate fully to Azure Cognitive Services Language API for enterprise-grade scalability and SLA guarantees.</a:t>
            </a:r>
            <a:endParaRPr dirty="0" lang="en-US" sz="950"/>
          </a:p>
        </p:txBody>
      </p:sp>
      <p:sp>
        <p:nvSpPr>
          <p:cNvPr id="20" name="Shape 18"/>
          <p:cNvSpPr/>
          <p:nvPr/>
        </p:nvSpPr>
        <p:spPr>
          <a:xfrm>
            <a:off x="4754880" y="2258568"/>
            <a:ext cx="4297680" cy="11704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1" name="Text 19"/>
          <p:cNvSpPr/>
          <p:nvPr/>
        </p:nvSpPr>
        <p:spPr>
          <a:xfrm>
            <a:off x="4892040" y="2350008"/>
            <a:ext cx="502920" cy="502920"/>
          </a:xfrm>
          <a:prstGeom prst="rect">
            <a:avLst/>
          </a:prstGeom>
          <a:noFill/>
          <a:ln/>
        </p:spPr>
        <p:txBody>
          <a:bodyPr anchor="ctr" bIns="0" lIns="0" numCol="1" rIns="0" rtlCol="0" tIns="0" wrap="square"/>
          <a:lstStyle/>
          <a:p>
            <a:pPr indent="0" marL="0">
              <a:buNone/>
            </a:pPr>
            <a:r>
              <a:rPr dirty="0" lang="en-US" sz="2200">
                <a:solidFill>
                  <a:srgbClr val="00B4D8"/>
                </a:solidFill>
              </a:rPr>
              <a:t>📊</a:t>
            </a:r>
            <a:endParaRPr dirty="0" lang="en-US" sz="2200"/>
          </a:p>
        </p:txBody>
      </p:sp>
      <p:sp>
        <p:nvSpPr>
          <p:cNvPr id="22" name="Text 20"/>
          <p:cNvSpPr/>
          <p:nvPr/>
        </p:nvSpPr>
        <p:spPr>
          <a:xfrm>
            <a:off x="5440680" y="2350008"/>
            <a:ext cx="347472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Dashboard Analytics</a:t>
            </a:r>
            <a:endParaRPr dirty="0" lang="en-US" sz="1300"/>
          </a:p>
        </p:txBody>
      </p:sp>
      <p:sp>
        <p:nvSpPr>
          <p:cNvPr id="23" name="Text 21"/>
          <p:cNvSpPr/>
          <p:nvPr/>
        </p:nvSpPr>
        <p:spPr>
          <a:xfrm>
            <a:off x="5440680" y="2715768"/>
            <a:ext cx="3474720" cy="603504"/>
          </a:xfrm>
          <a:prstGeom prst="rect">
            <a:avLst/>
          </a:prstGeom>
          <a:noFill/>
          <a:ln/>
        </p:spPr>
        <p:txBody>
          <a:bodyPr anchor="ctr" bIns="0" lIns="0" numCol="1" rIns="0" rtlCol="0" tIns="0" wrap="square"/>
          <a:lstStyle/>
          <a:p>
            <a:pPr indent="0" marL="0">
              <a:buNone/>
            </a:pPr>
            <a:r>
              <a:rPr dirty="0" lang="en-US" sz="950">
                <a:solidFill>
                  <a:srgbClr val="8EAAD4"/>
                </a:solidFill>
                <a:latin charset="0" pitchFamily="34" typeface="Calibri"/>
                <a:ea charset="-122" pitchFamily="34" typeface="Calibri"/>
                <a:cs charset="-120" pitchFamily="34" typeface="Calibri"/>
              </a:rPr>
              <a:t>Build a Power BI or Plotly dashboard that visualizes sentiment trends over time for business insights.</a:t>
            </a:r>
            <a:endParaRPr dirty="0" lang="en-US" sz="950"/>
          </a:p>
        </p:txBody>
      </p:sp>
      <p:sp>
        <p:nvSpPr>
          <p:cNvPr id="24" name="Shape 22"/>
          <p:cNvSpPr/>
          <p:nvPr/>
        </p:nvSpPr>
        <p:spPr>
          <a:xfrm>
            <a:off x="182880" y="3557016"/>
            <a:ext cx="4297680" cy="11704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5" name="Text 23"/>
          <p:cNvSpPr/>
          <p:nvPr/>
        </p:nvSpPr>
        <p:spPr>
          <a:xfrm>
            <a:off x="320040" y="3648456"/>
            <a:ext cx="502920" cy="502920"/>
          </a:xfrm>
          <a:prstGeom prst="rect">
            <a:avLst/>
          </a:prstGeom>
          <a:noFill/>
          <a:ln/>
        </p:spPr>
        <p:txBody>
          <a:bodyPr anchor="ctr" bIns="0" lIns="0" numCol="1" rIns="0" rtlCol="0" tIns="0" wrap="square"/>
          <a:lstStyle/>
          <a:p>
            <a:pPr indent="0" marL="0">
              <a:buNone/>
            </a:pPr>
            <a:r>
              <a:rPr dirty="0" lang="en-US" sz="2200">
                <a:solidFill>
                  <a:srgbClr val="00B4D8"/>
                </a:solidFill>
              </a:rPr>
              <a:t>🌍</a:t>
            </a:r>
            <a:endParaRPr dirty="0" lang="en-US" sz="2200"/>
          </a:p>
        </p:txBody>
      </p:sp>
      <p:sp>
        <p:nvSpPr>
          <p:cNvPr id="26" name="Text 24"/>
          <p:cNvSpPr/>
          <p:nvPr/>
        </p:nvSpPr>
        <p:spPr>
          <a:xfrm>
            <a:off x="868680" y="3648456"/>
            <a:ext cx="347472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Multilingual Support</a:t>
            </a:r>
            <a:endParaRPr dirty="0" lang="en-US" sz="1300"/>
          </a:p>
        </p:txBody>
      </p:sp>
      <p:sp>
        <p:nvSpPr>
          <p:cNvPr id="27" name="Text 25"/>
          <p:cNvSpPr/>
          <p:nvPr/>
        </p:nvSpPr>
        <p:spPr>
          <a:xfrm>
            <a:off x="868680" y="4014216"/>
            <a:ext cx="3474720" cy="603504"/>
          </a:xfrm>
          <a:prstGeom prst="rect">
            <a:avLst/>
          </a:prstGeom>
          <a:noFill/>
          <a:ln/>
        </p:spPr>
        <p:txBody>
          <a:bodyPr anchor="ctr" bIns="0" lIns="0" numCol="1" rIns="0" rtlCol="0" tIns="0" wrap="square"/>
          <a:lstStyle/>
          <a:p>
            <a:pPr indent="0" marL="0">
              <a:buNone/>
            </a:pPr>
            <a:r>
              <a:rPr dirty="0" lang="en-US" sz="950">
                <a:solidFill>
                  <a:srgbClr val="8EAAD4"/>
                </a:solidFill>
                <a:latin charset="0" pitchFamily="34" typeface="Calibri"/>
                <a:ea charset="-122" pitchFamily="34" typeface="Calibri"/>
                <a:cs charset="-120" pitchFamily="34" typeface="Calibri"/>
              </a:rPr>
              <a:t>Extend the model to support regional languages like Hindi, Telugu, and Tamil using multilingual NLP models.</a:t>
            </a:r>
            <a:endParaRPr dirty="0" lang="en-US" sz="950"/>
          </a:p>
        </p:txBody>
      </p:sp>
      <p:sp>
        <p:nvSpPr>
          <p:cNvPr id="28" name="Shape 26"/>
          <p:cNvSpPr/>
          <p:nvPr/>
        </p:nvSpPr>
        <p:spPr>
          <a:xfrm>
            <a:off x="4754880" y="3557016"/>
            <a:ext cx="4297680" cy="1170432"/>
          </a:xfrm>
          <a:prstGeom prst="rect">
            <a:avLst/>
          </a:prstGeom>
          <a:solidFill>
            <a:srgbClr val="112240"/>
          </a:solidFill>
          <a:ln w="12700">
            <a:solidFill>
              <a:srgbClr val="1A3A6B"/>
            </a:solidFill>
            <a:prstDash val="solid"/>
          </a:ln>
          <a:effectLst>
            <a:outerShdw algn="bl" blurRad="101600" dir="8100000" dist="25400" kx="0" ky="0" rotWithShape="0" sx="100000" sy="100000">
              <a:srgbClr val="000000">
                <a:alpha val="25000"/>
              </a:srgbClr>
            </a:outerShdw>
          </a:effectLst>
        </p:spPr>
      </p:sp>
      <p:sp>
        <p:nvSpPr>
          <p:cNvPr id="29" name="Text 27"/>
          <p:cNvSpPr/>
          <p:nvPr/>
        </p:nvSpPr>
        <p:spPr>
          <a:xfrm>
            <a:off x="4892040" y="3648456"/>
            <a:ext cx="502920" cy="502920"/>
          </a:xfrm>
          <a:prstGeom prst="rect">
            <a:avLst/>
          </a:prstGeom>
          <a:noFill/>
          <a:ln/>
        </p:spPr>
        <p:txBody>
          <a:bodyPr anchor="ctr" bIns="0" lIns="0" numCol="1" rIns="0" rtlCol="0" tIns="0" wrap="square"/>
          <a:lstStyle/>
          <a:p>
            <a:pPr indent="0" marL="0">
              <a:buNone/>
            </a:pPr>
            <a:r>
              <a:rPr dirty="0" lang="en-US" sz="2200">
                <a:solidFill>
                  <a:srgbClr val="00B4D8"/>
                </a:solidFill>
              </a:rPr>
              <a:t>🏢</a:t>
            </a:r>
            <a:endParaRPr dirty="0" lang="en-US" sz="2200"/>
          </a:p>
        </p:txBody>
      </p:sp>
      <p:sp>
        <p:nvSpPr>
          <p:cNvPr id="30" name="Text 28"/>
          <p:cNvSpPr/>
          <p:nvPr/>
        </p:nvSpPr>
        <p:spPr>
          <a:xfrm>
            <a:off x="5440680" y="3648456"/>
            <a:ext cx="3474720" cy="347472"/>
          </a:xfrm>
          <a:prstGeom prst="rect">
            <a:avLst/>
          </a:prstGeom>
          <a:noFill/>
          <a:ln/>
        </p:spPr>
        <p:txBody>
          <a:bodyPr anchor="ctr" bIns="0" lIns="0" numCol="1" rIns="0" rtlCol="0" tIns="0" wrap="square"/>
          <a:lstStyle/>
          <a:p>
            <a:pPr indent="0" marL="0">
              <a:buNone/>
            </a:pPr>
            <a:r>
              <a:rPr b="1" dirty="0" lang="en-US" sz="1300">
                <a:solidFill>
                  <a:srgbClr val="FFFFFF"/>
                </a:solidFill>
                <a:latin charset="0" pitchFamily="34" typeface="Calibri"/>
                <a:ea charset="-122" pitchFamily="34" typeface="Calibri"/>
                <a:cs charset="-120" pitchFamily="34" typeface="Calibri"/>
              </a:rPr>
              <a:t>Business Use Cases</a:t>
            </a:r>
            <a:endParaRPr dirty="0" lang="en-US" sz="1300"/>
          </a:p>
        </p:txBody>
      </p:sp>
      <p:sp>
        <p:nvSpPr>
          <p:cNvPr id="31" name="Text 29"/>
          <p:cNvSpPr/>
          <p:nvPr/>
        </p:nvSpPr>
        <p:spPr>
          <a:xfrm>
            <a:off x="5440680" y="4014216"/>
            <a:ext cx="3474720" cy="603504"/>
          </a:xfrm>
          <a:prstGeom prst="rect">
            <a:avLst/>
          </a:prstGeom>
          <a:noFill/>
          <a:ln/>
        </p:spPr>
        <p:txBody>
          <a:bodyPr anchor="ctr" bIns="0" lIns="0" numCol="1" rIns="0" rtlCol="0" tIns="0" wrap="square"/>
          <a:lstStyle/>
          <a:p>
            <a:pPr indent="0" marL="0">
              <a:buNone/>
            </a:pPr>
            <a:r>
              <a:rPr dirty="0" lang="en-US" sz="950">
                <a:solidFill>
                  <a:srgbClr val="8EAAD4"/>
                </a:solidFill>
                <a:latin charset="0" pitchFamily="34" typeface="Calibri"/>
                <a:ea charset="-122" pitchFamily="34" typeface="Calibri"/>
                <a:cs charset="-120" pitchFamily="34" typeface="Calibri"/>
              </a:rPr>
              <a:t>Apply the system to customer service feedback, social media monitoring, and brand reputation management.</a:t>
            </a:r>
            <a:endParaRPr dirty="0"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54864" cy="5070348"/>
          </a:xfrm>
          <a:prstGeom prst="rect">
            <a:avLst/>
          </a:prstGeom>
          <a:solidFill>
            <a:srgbClr val="1565C0"/>
          </a:solidFill>
          <a:ln w="12700">
            <a:solidFill>
              <a:srgbClr val="1565C0"/>
            </a:solidFill>
            <a:prstDash val="solid"/>
          </a:ln>
        </p:spPr>
      </p:sp>
      <p:sp>
        <p:nvSpPr>
          <p:cNvPr id="4" name="Shape 2"/>
          <p:cNvSpPr/>
          <p:nvPr/>
        </p:nvSpPr>
        <p:spPr>
          <a:xfrm>
            <a:off x="54864" y="73152"/>
            <a:ext cx="9089136" cy="749808"/>
          </a:xfrm>
          <a:prstGeom prst="rect">
            <a:avLst/>
          </a:prstGeom>
          <a:solidFill>
            <a:srgbClr val="0D3B6E"/>
          </a:solidFill>
          <a:ln w="12700">
            <a:solidFill>
              <a:srgbClr val="0D3B6E"/>
            </a:solidFill>
            <a:prstDash val="solid"/>
          </a:ln>
        </p:spPr>
      </p:sp>
      <p:sp>
        <p:nvSpPr>
          <p:cNvPr id="5" name="Text 3"/>
          <p:cNvSpPr/>
          <p:nvPr/>
        </p:nvSpPr>
        <p:spPr>
          <a:xfrm>
            <a:off x="320040" y="73152"/>
            <a:ext cx="8503920" cy="749808"/>
          </a:xfrm>
          <a:prstGeom prst="rect">
            <a:avLst/>
          </a:prstGeom>
          <a:noFill/>
          <a:ln/>
        </p:spPr>
        <p:txBody>
          <a:bodyPr anchor="ctr" bIns="0" lIns="0" numCol="1" rIns="0" rtlCol="0" tIns="0" wrap="square"/>
          <a:lstStyle/>
          <a:p>
            <a:pPr indent="0" marL="0">
              <a:buNone/>
            </a:pPr>
            <a:r>
              <a:rPr b="1" dirty="0" lang="en-US" sz="2200">
                <a:solidFill>
                  <a:srgbClr val="FFFFFF"/>
                </a:solidFill>
                <a:latin charset="0" pitchFamily="34" typeface="Calibri"/>
                <a:ea charset="-122" pitchFamily="34" typeface="Calibri"/>
                <a:cs charset="-120" pitchFamily="34" typeface="Calibri"/>
              </a:rPr>
              <a:t>References</a:t>
            </a:r>
            <a:endParaRPr dirty="0" lang="en-US" sz="2200"/>
          </a:p>
        </p:txBody>
      </p:sp>
      <p:sp>
        <p:nvSpPr>
          <p:cNvPr id="6" name="Shape 4"/>
          <p:cNvSpPr/>
          <p:nvPr/>
        </p:nvSpPr>
        <p:spPr>
          <a:xfrm>
            <a:off x="0" y="4873752"/>
            <a:ext cx="9144000" cy="269748"/>
          </a:xfrm>
          <a:prstGeom prst="rect">
            <a:avLst/>
          </a:prstGeom>
          <a:solidFill>
            <a:srgbClr val="0D3B6E"/>
          </a:solidFill>
          <a:ln w="12700">
            <a:solidFill>
              <a:srgbClr val="0D3B6E"/>
            </a:solidFill>
            <a:prstDash val="solid"/>
          </a:ln>
        </p:spPr>
      </p:sp>
      <p:sp>
        <p:nvSpPr>
          <p:cNvPr id="7" name="Text 5"/>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
        <p:nvSpPr>
          <p:cNvPr id="8" name="Shape 6"/>
          <p:cNvSpPr/>
          <p:nvPr/>
        </p:nvSpPr>
        <p:spPr>
          <a:xfrm>
            <a:off x="182880" y="960120"/>
            <a:ext cx="457200" cy="502920"/>
          </a:xfrm>
          <a:prstGeom prst="rect">
            <a:avLst/>
          </a:prstGeom>
          <a:solidFill>
            <a:srgbClr val="1565C0"/>
          </a:solidFill>
          <a:ln w="12700">
            <a:solidFill>
              <a:srgbClr val="1565C0"/>
            </a:solidFill>
            <a:prstDash val="solid"/>
          </a:ln>
        </p:spPr>
      </p:sp>
      <p:sp>
        <p:nvSpPr>
          <p:cNvPr id="9" name="Text 7"/>
          <p:cNvSpPr/>
          <p:nvPr/>
        </p:nvSpPr>
        <p:spPr>
          <a:xfrm>
            <a:off x="182880" y="960120"/>
            <a:ext cx="457200" cy="50292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[1]</a:t>
            </a:r>
            <a:endParaRPr dirty="0" lang="en-US" sz="1000"/>
          </a:p>
        </p:txBody>
      </p:sp>
      <p:sp>
        <p:nvSpPr>
          <p:cNvPr id="10" name="Text 8"/>
          <p:cNvSpPr/>
          <p:nvPr/>
        </p:nvSpPr>
        <p:spPr>
          <a:xfrm>
            <a:off x="777240" y="996696"/>
            <a:ext cx="3200400" cy="237744"/>
          </a:xfrm>
          <a:prstGeom prst="rect">
            <a:avLst/>
          </a:prstGeom>
          <a:noFill/>
          <a:ln/>
        </p:spPr>
        <p:txBody>
          <a:bodyPr anchor="ctr" bIns="0" lIns="0" numCol="1" rIns="0" rtlCol="0" tIns="0" wrap="square"/>
          <a:lstStyle/>
          <a:p>
            <a:pPr indent="0" marL="0">
              <a:buNone/>
            </a:pPr>
            <a:r>
              <a:rPr b="1" dirty="0" lang="en-US" sz="1100">
                <a:solidFill>
                  <a:srgbClr val="FFFFFF"/>
                </a:solidFill>
                <a:latin charset="0" pitchFamily="34" typeface="Calibri"/>
                <a:ea charset="-122" pitchFamily="34" typeface="Calibri"/>
                <a:cs charset="-120" pitchFamily="34" typeface="Calibri"/>
              </a:rPr>
              <a:t>Hugging Face Model — Sentiment</a:t>
            </a:r>
            <a:endParaRPr dirty="0" lang="en-US" sz="1100"/>
          </a:p>
        </p:txBody>
      </p:sp>
      <p:sp>
        <p:nvSpPr>
          <p:cNvPr id="11" name="Text 9"/>
          <p:cNvSpPr/>
          <p:nvPr/>
        </p:nvSpPr>
        <p:spPr>
          <a:xfrm>
            <a:off x="777240" y="1234440"/>
            <a:ext cx="3200400" cy="182880"/>
          </a:xfrm>
          <a:prstGeom prst="rect">
            <a:avLst/>
          </a:prstGeom>
          <a:noFill/>
          <a:ln/>
        </p:spPr>
        <p:txBody>
          <a:bodyPr anchor="ctr" bIns="0" lIns="0" numCol="1" rIns="0" rtlCol="0" tIns="0" wrap="square"/>
          <a:lstStyle/>
          <a:p>
            <a:pPr indent="0" marL="0">
              <a:buNone/>
            </a:pPr>
            <a:r>
              <a:rPr dirty="0" lang="en-US" sz="900">
                <a:solidFill>
                  <a:srgbClr val="8EAAD4"/>
                </a:solidFill>
                <a:latin charset="0" pitchFamily="34" typeface="Calibri"/>
                <a:ea charset="-122" pitchFamily="34" typeface="Calibri"/>
                <a:cs charset="-120" pitchFamily="34" typeface="Calibri"/>
              </a:rPr>
              <a:t>cardiffnlp/twitter-roberta-base-sentiment-latest</a:t>
            </a:r>
            <a:endParaRPr dirty="0" lang="en-US" sz="900"/>
          </a:p>
        </p:txBody>
      </p:sp>
      <p:sp>
        <p:nvSpPr>
          <p:cNvPr id="12" name="Text 10">
            <a:hlinkClick r:id="rId3"/>
          </p:cNvPr>
          <p:cNvSpPr/>
          <p:nvPr/>
        </p:nvSpPr>
        <p:spPr>
          <a:xfrm>
            <a:off x="4114800" y="1069848"/>
            <a:ext cx="4846320" cy="237744"/>
          </a:xfrm>
          <a:prstGeom prst="rect">
            <a:avLst/>
          </a:prstGeom>
          <a:noFill/>
          <a:ln/>
        </p:spPr>
        <p:txBody>
          <a:bodyPr anchor="ctr" bIns="0" lIns="0" numCol="1" rIns="0" rtlCol="0" tIns="0" wrap="square"/>
          <a:lstStyle/>
          <a:p>
            <a:pPr indent="0" marL="0">
              <a:buNone/>
            </a:pPr>
            <a:r>
              <a:rPr dirty="0" lang="en-US" sz="900" u="sng">
                <a:solidFill>
                  <a:srgbClr val="00B4D8"/>
                </a:solidFill>
                <a:latin charset="0" pitchFamily="34" typeface="Calibri"/>
                <a:ea charset="-122" pitchFamily="34" typeface="Calibri"/>
                <a:cs charset="-120" pitchFamily="34" typeface="Calibri"/>
                <a:hlinkClick r:id="rId4">
                  <a:extLst>
                    <a:ext uri="{A12FA001-AC4F-418D-AE19-62706E023703}">
                      <ahyp:hlinkClr xmlns:ahyp="http://schemas.microsoft.com/office/drawing/2018/hyperlinkcolor" val="tx"/>
                    </a:ext>
                  </a:extLst>
                </a:hlinkClick>
              </a:rPr>
              <a:t>https://huggingface.co/cardiffnlp/twitter-roberta-base-sentiment-latest</a:t>
            </a:r>
            <a:endParaRPr dirty="0" lang="en-US" sz="900"/>
          </a:p>
        </p:txBody>
      </p:sp>
      <p:sp>
        <p:nvSpPr>
          <p:cNvPr id="13" name="Shape 11"/>
          <p:cNvSpPr/>
          <p:nvPr/>
        </p:nvSpPr>
        <p:spPr>
          <a:xfrm>
            <a:off x="182880" y="1508760"/>
            <a:ext cx="8778240" cy="9144"/>
          </a:xfrm>
          <a:prstGeom prst="rect">
            <a:avLst/>
          </a:prstGeom>
          <a:solidFill>
            <a:srgbClr val="1A3A6B"/>
          </a:solidFill>
          <a:ln w="12700">
            <a:solidFill>
              <a:srgbClr val="1A3A6B"/>
            </a:solidFill>
            <a:prstDash val="solid"/>
          </a:ln>
        </p:spPr>
      </p:sp>
      <p:sp>
        <p:nvSpPr>
          <p:cNvPr id="14" name="Shape 12"/>
          <p:cNvSpPr/>
          <p:nvPr/>
        </p:nvSpPr>
        <p:spPr>
          <a:xfrm>
            <a:off x="182880" y="1600200"/>
            <a:ext cx="457200" cy="502920"/>
          </a:xfrm>
          <a:prstGeom prst="rect">
            <a:avLst/>
          </a:prstGeom>
          <a:solidFill>
            <a:srgbClr val="1565C0"/>
          </a:solidFill>
          <a:ln w="12700">
            <a:solidFill>
              <a:srgbClr val="1565C0"/>
            </a:solidFill>
            <a:prstDash val="solid"/>
          </a:ln>
        </p:spPr>
      </p:sp>
      <p:sp>
        <p:nvSpPr>
          <p:cNvPr id="15" name="Text 13"/>
          <p:cNvSpPr/>
          <p:nvPr/>
        </p:nvSpPr>
        <p:spPr>
          <a:xfrm>
            <a:off x="182880" y="1600200"/>
            <a:ext cx="457200" cy="50292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[2]</a:t>
            </a:r>
            <a:endParaRPr dirty="0" lang="en-US" sz="1000"/>
          </a:p>
        </p:txBody>
      </p:sp>
      <p:sp>
        <p:nvSpPr>
          <p:cNvPr id="16" name="Text 14"/>
          <p:cNvSpPr/>
          <p:nvPr/>
        </p:nvSpPr>
        <p:spPr>
          <a:xfrm>
            <a:off x="777240" y="1636776"/>
            <a:ext cx="3200400" cy="237744"/>
          </a:xfrm>
          <a:prstGeom prst="rect">
            <a:avLst/>
          </a:prstGeom>
          <a:noFill/>
          <a:ln/>
        </p:spPr>
        <p:txBody>
          <a:bodyPr anchor="ctr" bIns="0" lIns="0" numCol="1" rIns="0" rtlCol="0" tIns="0" wrap="square"/>
          <a:lstStyle/>
          <a:p>
            <a:pPr indent="0" marL="0">
              <a:buNone/>
            </a:pPr>
            <a:r>
              <a:rPr b="1" dirty="0" lang="en-US" sz="1100">
                <a:solidFill>
                  <a:srgbClr val="FFFFFF"/>
                </a:solidFill>
                <a:latin charset="0" pitchFamily="34" typeface="Calibri"/>
                <a:ea charset="-122" pitchFamily="34" typeface="Calibri"/>
                <a:cs charset="-120" pitchFamily="34" typeface="Calibri"/>
              </a:rPr>
              <a:t>Hugging Face Model — Emotion</a:t>
            </a:r>
            <a:endParaRPr dirty="0" lang="en-US" sz="1100"/>
          </a:p>
        </p:txBody>
      </p:sp>
      <p:sp>
        <p:nvSpPr>
          <p:cNvPr id="17" name="Text 15"/>
          <p:cNvSpPr/>
          <p:nvPr/>
        </p:nvSpPr>
        <p:spPr>
          <a:xfrm>
            <a:off x="777240" y="1874520"/>
            <a:ext cx="3200400" cy="182880"/>
          </a:xfrm>
          <a:prstGeom prst="rect">
            <a:avLst/>
          </a:prstGeom>
          <a:noFill/>
          <a:ln/>
        </p:spPr>
        <p:txBody>
          <a:bodyPr anchor="ctr" bIns="0" lIns="0" numCol="1" rIns="0" rtlCol="0" tIns="0" wrap="square"/>
          <a:lstStyle/>
          <a:p>
            <a:pPr indent="0" marL="0">
              <a:buNone/>
            </a:pPr>
            <a:r>
              <a:rPr dirty="0" lang="en-US" sz="900">
                <a:solidFill>
                  <a:srgbClr val="8EAAD4"/>
                </a:solidFill>
                <a:latin charset="0" pitchFamily="34" typeface="Calibri"/>
                <a:ea charset="-122" pitchFamily="34" typeface="Calibri"/>
                <a:cs charset="-120" pitchFamily="34" typeface="Calibri"/>
              </a:rPr>
              <a:t>j-hartmann/emotion-english-distilroberta-base</a:t>
            </a:r>
            <a:endParaRPr dirty="0" lang="en-US" sz="900"/>
          </a:p>
        </p:txBody>
      </p:sp>
      <p:sp>
        <p:nvSpPr>
          <p:cNvPr id="18" name="Text 16">
            <a:hlinkClick r:id="rId5"/>
          </p:cNvPr>
          <p:cNvSpPr/>
          <p:nvPr/>
        </p:nvSpPr>
        <p:spPr>
          <a:xfrm>
            <a:off x="4114800" y="1709928"/>
            <a:ext cx="4846320" cy="237744"/>
          </a:xfrm>
          <a:prstGeom prst="rect">
            <a:avLst/>
          </a:prstGeom>
          <a:noFill/>
          <a:ln/>
        </p:spPr>
        <p:txBody>
          <a:bodyPr anchor="ctr" bIns="0" lIns="0" numCol="1" rIns="0" rtlCol="0" tIns="0" wrap="square"/>
          <a:lstStyle/>
          <a:p>
            <a:pPr indent="0" marL="0">
              <a:buNone/>
            </a:pPr>
            <a:r>
              <a:rPr dirty="0" lang="en-US" sz="900" u="sng">
                <a:solidFill>
                  <a:srgbClr val="00B4D8"/>
                </a:solidFill>
                <a:latin charset="0" pitchFamily="34" typeface="Calibri"/>
                <a:ea charset="-122" pitchFamily="34" typeface="Calibri"/>
                <a:cs charset="-120" pitchFamily="34" typeface="Calibri"/>
                <a:hlinkClick r:id="rId6">
                  <a:extLst>
                    <a:ext uri="{A12FA001-AC4F-418D-AE19-62706E023703}">
                      <ahyp:hlinkClr xmlns:ahyp="http://schemas.microsoft.com/office/drawing/2018/hyperlinkcolor" val="tx"/>
                    </a:ext>
                  </a:extLst>
                </a:hlinkClick>
              </a:rPr>
              <a:t>https://huggingface.co/j-hartmann/emotion-english-distilroberta-base</a:t>
            </a:r>
            <a:endParaRPr dirty="0" lang="en-US" sz="900"/>
          </a:p>
        </p:txBody>
      </p:sp>
      <p:sp>
        <p:nvSpPr>
          <p:cNvPr id="19" name="Shape 17"/>
          <p:cNvSpPr/>
          <p:nvPr/>
        </p:nvSpPr>
        <p:spPr>
          <a:xfrm>
            <a:off x="182880" y="2148840"/>
            <a:ext cx="8778240" cy="9144"/>
          </a:xfrm>
          <a:prstGeom prst="rect">
            <a:avLst/>
          </a:prstGeom>
          <a:solidFill>
            <a:srgbClr val="1A3A6B"/>
          </a:solidFill>
          <a:ln w="12700">
            <a:solidFill>
              <a:srgbClr val="1A3A6B"/>
            </a:solidFill>
            <a:prstDash val="solid"/>
          </a:ln>
        </p:spPr>
      </p:sp>
      <p:sp>
        <p:nvSpPr>
          <p:cNvPr id="20" name="Shape 18"/>
          <p:cNvSpPr/>
          <p:nvPr/>
        </p:nvSpPr>
        <p:spPr>
          <a:xfrm>
            <a:off x="182880" y="2240280"/>
            <a:ext cx="457200" cy="502920"/>
          </a:xfrm>
          <a:prstGeom prst="rect">
            <a:avLst/>
          </a:prstGeom>
          <a:solidFill>
            <a:srgbClr val="1565C0"/>
          </a:solidFill>
          <a:ln w="12700">
            <a:solidFill>
              <a:srgbClr val="1565C0"/>
            </a:solidFill>
            <a:prstDash val="solid"/>
          </a:ln>
        </p:spPr>
      </p:sp>
      <p:sp>
        <p:nvSpPr>
          <p:cNvPr id="21" name="Text 19"/>
          <p:cNvSpPr/>
          <p:nvPr/>
        </p:nvSpPr>
        <p:spPr>
          <a:xfrm>
            <a:off x="182880" y="2240280"/>
            <a:ext cx="457200" cy="50292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[3]</a:t>
            </a:r>
            <a:endParaRPr dirty="0" lang="en-US" sz="1000"/>
          </a:p>
        </p:txBody>
      </p:sp>
      <p:sp>
        <p:nvSpPr>
          <p:cNvPr id="22" name="Text 20"/>
          <p:cNvSpPr/>
          <p:nvPr/>
        </p:nvSpPr>
        <p:spPr>
          <a:xfrm>
            <a:off x="777240" y="2276856"/>
            <a:ext cx="3200400" cy="237744"/>
          </a:xfrm>
          <a:prstGeom prst="rect">
            <a:avLst/>
          </a:prstGeom>
          <a:noFill/>
          <a:ln/>
        </p:spPr>
        <p:txBody>
          <a:bodyPr anchor="ctr" bIns="0" lIns="0" numCol="1" rIns="0" rtlCol="0" tIns="0" wrap="square"/>
          <a:lstStyle/>
          <a:p>
            <a:pPr indent="0" marL="0">
              <a:buNone/>
            </a:pPr>
            <a:r>
              <a:rPr b="1" dirty="0" lang="en-US" sz="1100">
                <a:solidFill>
                  <a:srgbClr val="FFFFFF"/>
                </a:solidFill>
                <a:latin charset="0" pitchFamily="34" typeface="Calibri"/>
                <a:ea charset="-122" pitchFamily="34" typeface="Calibri"/>
                <a:cs charset="-120" pitchFamily="34" typeface="Calibri"/>
              </a:rPr>
              <a:t>Hugging Face Inference API Docs</a:t>
            </a:r>
            <a:endParaRPr dirty="0" lang="en-US" sz="1100"/>
          </a:p>
        </p:txBody>
      </p:sp>
      <p:sp>
        <p:nvSpPr>
          <p:cNvPr id="23" name="Text 21"/>
          <p:cNvSpPr/>
          <p:nvPr/>
        </p:nvSpPr>
        <p:spPr>
          <a:xfrm>
            <a:off x="777240" y="2514600"/>
            <a:ext cx="3200400" cy="182880"/>
          </a:xfrm>
          <a:prstGeom prst="rect">
            <a:avLst/>
          </a:prstGeom>
          <a:noFill/>
          <a:ln/>
        </p:spPr>
        <p:txBody>
          <a:bodyPr anchor="ctr" bIns="0" lIns="0" numCol="1" rIns="0" rtlCol="0" tIns="0" wrap="square"/>
          <a:lstStyle/>
          <a:p>
            <a:pPr indent="0" marL="0">
              <a:buNone/>
            </a:pPr>
            <a:r>
              <a:rPr dirty="0" lang="en-US" sz="900">
                <a:solidFill>
                  <a:srgbClr val="8EAAD4"/>
                </a:solidFill>
                <a:latin charset="0" pitchFamily="34" typeface="Calibri"/>
                <a:ea charset="-122" pitchFamily="34" typeface="Calibri"/>
                <a:cs charset="-120" pitchFamily="34" typeface="Calibri"/>
              </a:rPr>
              <a:t>router.huggingface.co — Free Inference API</a:t>
            </a:r>
            <a:endParaRPr dirty="0" lang="en-US" sz="900"/>
          </a:p>
        </p:txBody>
      </p:sp>
      <p:sp>
        <p:nvSpPr>
          <p:cNvPr id="24" name="Text 22">
            <a:hlinkClick r:id="rId7"/>
          </p:cNvPr>
          <p:cNvSpPr/>
          <p:nvPr/>
        </p:nvSpPr>
        <p:spPr>
          <a:xfrm>
            <a:off x="4114800" y="2350008"/>
            <a:ext cx="4846320" cy="237744"/>
          </a:xfrm>
          <a:prstGeom prst="rect">
            <a:avLst/>
          </a:prstGeom>
          <a:noFill/>
          <a:ln/>
        </p:spPr>
        <p:txBody>
          <a:bodyPr anchor="ctr" bIns="0" lIns="0" numCol="1" rIns="0" rtlCol="0" tIns="0" wrap="square"/>
          <a:lstStyle/>
          <a:p>
            <a:pPr indent="0" marL="0">
              <a:buNone/>
            </a:pPr>
            <a:r>
              <a:rPr dirty="0" lang="en-US" sz="900" u="sng">
                <a:solidFill>
                  <a:srgbClr val="00B4D8"/>
                </a:solidFill>
                <a:latin charset="0" pitchFamily="34" typeface="Calibri"/>
                <a:ea charset="-122" pitchFamily="34" typeface="Calibri"/>
                <a:cs charset="-120" pitchFamily="34" typeface="Calibri"/>
                <a:hlinkClick r:id="rId8">
                  <a:extLst>
                    <a:ext uri="{A12FA001-AC4F-418D-AE19-62706E023703}">
                      <ahyp:hlinkClr xmlns:ahyp="http://schemas.microsoft.com/office/drawing/2018/hyperlinkcolor" val="tx"/>
                    </a:ext>
                  </a:extLst>
                </a:hlinkClick>
              </a:rPr>
              <a:t>https://huggingface.co/docs/api-inference</a:t>
            </a:r>
            <a:endParaRPr dirty="0" lang="en-US" sz="900"/>
          </a:p>
        </p:txBody>
      </p:sp>
      <p:sp>
        <p:nvSpPr>
          <p:cNvPr id="25" name="Shape 23"/>
          <p:cNvSpPr/>
          <p:nvPr/>
        </p:nvSpPr>
        <p:spPr>
          <a:xfrm>
            <a:off x="182880" y="2788920"/>
            <a:ext cx="8778240" cy="9144"/>
          </a:xfrm>
          <a:prstGeom prst="rect">
            <a:avLst/>
          </a:prstGeom>
          <a:solidFill>
            <a:srgbClr val="1A3A6B"/>
          </a:solidFill>
          <a:ln w="12700">
            <a:solidFill>
              <a:srgbClr val="1A3A6B"/>
            </a:solidFill>
            <a:prstDash val="solid"/>
          </a:ln>
        </p:spPr>
      </p:sp>
      <p:sp>
        <p:nvSpPr>
          <p:cNvPr id="26" name="Shape 24"/>
          <p:cNvSpPr/>
          <p:nvPr/>
        </p:nvSpPr>
        <p:spPr>
          <a:xfrm>
            <a:off x="182880" y="2880360"/>
            <a:ext cx="457200" cy="502920"/>
          </a:xfrm>
          <a:prstGeom prst="rect">
            <a:avLst/>
          </a:prstGeom>
          <a:solidFill>
            <a:srgbClr val="1565C0"/>
          </a:solidFill>
          <a:ln w="12700">
            <a:solidFill>
              <a:srgbClr val="1565C0"/>
            </a:solidFill>
            <a:prstDash val="solid"/>
          </a:ln>
        </p:spPr>
      </p:sp>
      <p:sp>
        <p:nvSpPr>
          <p:cNvPr id="27" name="Text 25"/>
          <p:cNvSpPr/>
          <p:nvPr/>
        </p:nvSpPr>
        <p:spPr>
          <a:xfrm>
            <a:off x="182880" y="2880360"/>
            <a:ext cx="457200" cy="50292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[4]</a:t>
            </a:r>
            <a:endParaRPr dirty="0" lang="en-US" sz="1000"/>
          </a:p>
        </p:txBody>
      </p:sp>
      <p:sp>
        <p:nvSpPr>
          <p:cNvPr id="28" name="Text 26"/>
          <p:cNvSpPr/>
          <p:nvPr/>
        </p:nvSpPr>
        <p:spPr>
          <a:xfrm>
            <a:off x="777240" y="2916936"/>
            <a:ext cx="3200400" cy="237744"/>
          </a:xfrm>
          <a:prstGeom prst="rect">
            <a:avLst/>
          </a:prstGeom>
          <a:noFill/>
          <a:ln/>
        </p:spPr>
        <p:txBody>
          <a:bodyPr anchor="ctr" bIns="0" lIns="0" numCol="1" rIns="0" rtlCol="0" tIns="0" wrap="square"/>
          <a:lstStyle/>
          <a:p>
            <a:pPr indent="0" marL="0">
              <a:buNone/>
            </a:pPr>
            <a:r>
              <a:rPr b="1" dirty="0" lang="en-US" sz="1100">
                <a:solidFill>
                  <a:srgbClr val="FFFFFF"/>
                </a:solidFill>
                <a:latin charset="0" pitchFamily="34" typeface="Calibri"/>
                <a:ea charset="-122" pitchFamily="34" typeface="Calibri"/>
                <a:cs charset="-120" pitchFamily="34" typeface="Calibri"/>
              </a:rPr>
              <a:t>Kaggle Notebooks Platform</a:t>
            </a:r>
            <a:endParaRPr dirty="0" lang="en-US" sz="1100"/>
          </a:p>
        </p:txBody>
      </p:sp>
      <p:sp>
        <p:nvSpPr>
          <p:cNvPr id="29" name="Text 27"/>
          <p:cNvSpPr/>
          <p:nvPr/>
        </p:nvSpPr>
        <p:spPr>
          <a:xfrm>
            <a:off x="777240" y="3154680"/>
            <a:ext cx="3200400" cy="182880"/>
          </a:xfrm>
          <a:prstGeom prst="rect">
            <a:avLst/>
          </a:prstGeom>
          <a:noFill/>
          <a:ln/>
        </p:spPr>
        <p:txBody>
          <a:bodyPr anchor="ctr" bIns="0" lIns="0" numCol="1" rIns="0" rtlCol="0" tIns="0" wrap="square"/>
          <a:lstStyle/>
          <a:p>
            <a:pPr indent="0" marL="0">
              <a:buNone/>
            </a:pPr>
            <a:r>
              <a:rPr dirty="0" lang="en-US" sz="900">
                <a:solidFill>
                  <a:srgbClr val="8EAAD4"/>
                </a:solidFill>
                <a:latin charset="0" pitchFamily="34" typeface="Calibri"/>
                <a:ea charset="-122" pitchFamily="34" typeface="Calibri"/>
                <a:cs charset="-120" pitchFamily="34" typeface="Calibri"/>
              </a:rPr>
              <a:t>Free cloud Python execution environment</a:t>
            </a:r>
            <a:endParaRPr dirty="0" lang="en-US" sz="900"/>
          </a:p>
        </p:txBody>
      </p:sp>
      <p:sp>
        <p:nvSpPr>
          <p:cNvPr id="30" name="Text 28">
            <a:hlinkClick r:id="rId9"/>
          </p:cNvPr>
          <p:cNvSpPr/>
          <p:nvPr/>
        </p:nvSpPr>
        <p:spPr>
          <a:xfrm>
            <a:off x="4114800" y="2990088"/>
            <a:ext cx="4846320" cy="237744"/>
          </a:xfrm>
          <a:prstGeom prst="rect">
            <a:avLst/>
          </a:prstGeom>
          <a:noFill/>
          <a:ln/>
        </p:spPr>
        <p:txBody>
          <a:bodyPr anchor="ctr" bIns="0" lIns="0" numCol="1" rIns="0" rtlCol="0" tIns="0" wrap="square"/>
          <a:lstStyle/>
          <a:p>
            <a:pPr indent="0" marL="0">
              <a:buNone/>
            </a:pPr>
            <a:r>
              <a:rPr dirty="0" lang="en-US" sz="900" u="sng">
                <a:solidFill>
                  <a:srgbClr val="00B4D8"/>
                </a:solidFill>
                <a:latin charset="0" pitchFamily="34" typeface="Calibri"/>
                <a:ea charset="-122" pitchFamily="34" typeface="Calibri"/>
                <a:cs charset="-120" pitchFamily="34" typeface="Calibri"/>
                <a:hlinkClick r:id="rId10">
                  <a:extLst>
                    <a:ext uri="{A12FA001-AC4F-418D-AE19-62706E023703}">
                      <ahyp:hlinkClr xmlns:ahyp="http://schemas.microsoft.com/office/drawing/2018/hyperlinkcolor" val="tx"/>
                    </a:ext>
                  </a:extLst>
                </a:hlinkClick>
              </a:rPr>
              <a:t>https://www.kaggle.com/docs/notebooks</a:t>
            </a:r>
            <a:endParaRPr dirty="0" lang="en-US" sz="900"/>
          </a:p>
        </p:txBody>
      </p:sp>
      <p:sp>
        <p:nvSpPr>
          <p:cNvPr id="31" name="Shape 29"/>
          <p:cNvSpPr/>
          <p:nvPr/>
        </p:nvSpPr>
        <p:spPr>
          <a:xfrm>
            <a:off x="182880" y="3429000"/>
            <a:ext cx="8778240" cy="9144"/>
          </a:xfrm>
          <a:prstGeom prst="rect">
            <a:avLst/>
          </a:prstGeom>
          <a:solidFill>
            <a:srgbClr val="1A3A6B"/>
          </a:solidFill>
          <a:ln w="12700">
            <a:solidFill>
              <a:srgbClr val="1A3A6B"/>
            </a:solidFill>
            <a:prstDash val="solid"/>
          </a:ln>
        </p:spPr>
      </p:sp>
      <p:sp>
        <p:nvSpPr>
          <p:cNvPr id="32" name="Shape 30"/>
          <p:cNvSpPr/>
          <p:nvPr/>
        </p:nvSpPr>
        <p:spPr>
          <a:xfrm>
            <a:off x="182880" y="3520440"/>
            <a:ext cx="457200" cy="502920"/>
          </a:xfrm>
          <a:prstGeom prst="rect">
            <a:avLst/>
          </a:prstGeom>
          <a:solidFill>
            <a:srgbClr val="1565C0"/>
          </a:solidFill>
          <a:ln w="12700">
            <a:solidFill>
              <a:srgbClr val="1565C0"/>
            </a:solidFill>
            <a:prstDash val="solid"/>
          </a:ln>
        </p:spPr>
      </p:sp>
      <p:sp>
        <p:nvSpPr>
          <p:cNvPr id="33" name="Text 31"/>
          <p:cNvSpPr/>
          <p:nvPr/>
        </p:nvSpPr>
        <p:spPr>
          <a:xfrm>
            <a:off x="182880" y="3520440"/>
            <a:ext cx="457200" cy="50292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[5]</a:t>
            </a:r>
            <a:endParaRPr dirty="0" lang="en-US" sz="1000"/>
          </a:p>
        </p:txBody>
      </p:sp>
      <p:sp>
        <p:nvSpPr>
          <p:cNvPr id="34" name="Text 32"/>
          <p:cNvSpPr/>
          <p:nvPr/>
        </p:nvSpPr>
        <p:spPr>
          <a:xfrm>
            <a:off x="777240" y="3557016"/>
            <a:ext cx="3200400" cy="237744"/>
          </a:xfrm>
          <a:prstGeom prst="rect">
            <a:avLst/>
          </a:prstGeom>
          <a:noFill/>
          <a:ln/>
        </p:spPr>
        <p:txBody>
          <a:bodyPr anchor="ctr" bIns="0" lIns="0" numCol="1" rIns="0" rtlCol="0" tIns="0" wrap="square"/>
          <a:lstStyle/>
          <a:p>
            <a:pPr indent="0" marL="0">
              <a:buNone/>
            </a:pPr>
            <a:r>
              <a:rPr b="1" dirty="0" lang="en-US" sz="1100">
                <a:solidFill>
                  <a:srgbClr val="FFFFFF"/>
                </a:solidFill>
                <a:latin charset="0" pitchFamily="34" typeface="Calibri"/>
                <a:ea charset="-122" pitchFamily="34" typeface="Calibri"/>
                <a:cs charset="-120" pitchFamily="34" typeface="Calibri"/>
              </a:rPr>
              <a:t>Microsoft Azure Elevate Program</a:t>
            </a:r>
            <a:endParaRPr dirty="0" lang="en-US" sz="1100"/>
          </a:p>
        </p:txBody>
      </p:sp>
      <p:sp>
        <p:nvSpPr>
          <p:cNvPr id="35" name="Text 33"/>
          <p:cNvSpPr/>
          <p:nvPr/>
        </p:nvSpPr>
        <p:spPr>
          <a:xfrm>
            <a:off x="777240" y="3794760"/>
            <a:ext cx="3200400" cy="182880"/>
          </a:xfrm>
          <a:prstGeom prst="rect">
            <a:avLst/>
          </a:prstGeom>
          <a:noFill/>
          <a:ln/>
        </p:spPr>
        <p:txBody>
          <a:bodyPr anchor="ctr" bIns="0" lIns="0" numCol="1" rIns="0" rtlCol="0" tIns="0" wrap="square"/>
          <a:lstStyle/>
          <a:p>
            <a:pPr indent="0" marL="0">
              <a:buNone/>
            </a:pPr>
            <a:r>
              <a:rPr dirty="0" lang="en-US" sz="900">
                <a:solidFill>
                  <a:srgbClr val="8EAAD4"/>
                </a:solidFill>
                <a:latin charset="0" pitchFamily="34" typeface="Calibri"/>
                <a:ea charset="-122" pitchFamily="34" typeface="Calibri"/>
                <a:cs charset="-120" pitchFamily="34" typeface="Calibri"/>
              </a:rPr>
              <a:t>Edunet Foundation &amp; AICTE Initiative</a:t>
            </a:r>
            <a:endParaRPr dirty="0" lang="en-US" sz="900"/>
          </a:p>
        </p:txBody>
      </p:sp>
      <p:sp>
        <p:nvSpPr>
          <p:cNvPr id="36" name="Text 34">
            <a:hlinkClick r:id="rId11"/>
          </p:cNvPr>
          <p:cNvSpPr/>
          <p:nvPr/>
        </p:nvSpPr>
        <p:spPr>
          <a:xfrm>
            <a:off x="4114800" y="3630168"/>
            <a:ext cx="4846320" cy="237744"/>
          </a:xfrm>
          <a:prstGeom prst="rect">
            <a:avLst/>
          </a:prstGeom>
          <a:noFill/>
          <a:ln/>
        </p:spPr>
        <p:txBody>
          <a:bodyPr anchor="ctr" bIns="0" lIns="0" numCol="1" rIns="0" rtlCol="0" tIns="0" wrap="square"/>
          <a:lstStyle/>
          <a:p>
            <a:pPr indent="0" marL="0">
              <a:buNone/>
            </a:pPr>
            <a:r>
              <a:rPr dirty="0" lang="en-US" sz="900" u="sng">
                <a:solidFill>
                  <a:srgbClr val="00B4D8"/>
                </a:solidFill>
                <a:latin charset="0" pitchFamily="34" typeface="Calibri"/>
                <a:ea charset="-122" pitchFamily="34" typeface="Calibri"/>
                <a:cs charset="-120" pitchFamily="34" typeface="Calibri"/>
                <a:hlinkClick r:id="rId12">
                  <a:extLst>
                    <a:ext uri="{A12FA001-AC4F-418D-AE19-62706E023703}">
                      <ahyp:hlinkClr xmlns:ahyp="http://schemas.microsoft.com/office/drawing/2018/hyperlinkcolor" val="tx"/>
                    </a:ext>
                  </a:extLst>
                </a:hlinkClick>
              </a:rPr>
              <a:t>https://www.edunetfoundation.org</a:t>
            </a:r>
            <a:endParaRPr dirty="0" lang="en-US" sz="900"/>
          </a:p>
        </p:txBody>
      </p:sp>
      <p:sp>
        <p:nvSpPr>
          <p:cNvPr id="37" name="Shape 35"/>
          <p:cNvSpPr/>
          <p:nvPr/>
        </p:nvSpPr>
        <p:spPr>
          <a:xfrm>
            <a:off x="182880" y="4069080"/>
            <a:ext cx="8778240" cy="9144"/>
          </a:xfrm>
          <a:prstGeom prst="rect">
            <a:avLst/>
          </a:prstGeom>
          <a:solidFill>
            <a:srgbClr val="1A3A6B"/>
          </a:solidFill>
          <a:ln w="12700">
            <a:solidFill>
              <a:srgbClr val="1A3A6B"/>
            </a:solidFill>
            <a:prstDash val="solid"/>
          </a:ln>
        </p:spPr>
      </p:sp>
      <p:sp>
        <p:nvSpPr>
          <p:cNvPr id="38" name="Shape 36"/>
          <p:cNvSpPr/>
          <p:nvPr/>
        </p:nvSpPr>
        <p:spPr>
          <a:xfrm>
            <a:off x="182880" y="4160520"/>
            <a:ext cx="457200" cy="502920"/>
          </a:xfrm>
          <a:prstGeom prst="rect">
            <a:avLst/>
          </a:prstGeom>
          <a:solidFill>
            <a:srgbClr val="1565C0"/>
          </a:solidFill>
          <a:ln w="12700">
            <a:solidFill>
              <a:srgbClr val="1565C0"/>
            </a:solidFill>
            <a:prstDash val="solid"/>
          </a:ln>
        </p:spPr>
      </p:sp>
      <p:sp>
        <p:nvSpPr>
          <p:cNvPr id="39" name="Text 37"/>
          <p:cNvSpPr/>
          <p:nvPr/>
        </p:nvSpPr>
        <p:spPr>
          <a:xfrm>
            <a:off x="182880" y="4160520"/>
            <a:ext cx="457200" cy="502920"/>
          </a:xfrm>
          <a:prstGeom prst="rect">
            <a:avLst/>
          </a:prstGeom>
          <a:noFill/>
          <a:ln/>
        </p:spPr>
        <p:txBody>
          <a:bodyPr anchor="ctr" bIns="0" lIns="0" numCol="1" rIns="0" rtlCol="0" tIns="0" wrap="square"/>
          <a:lstStyle/>
          <a:p>
            <a:pPr algn="ctr" indent="0" marL="0">
              <a:buNone/>
            </a:pPr>
            <a:r>
              <a:rPr b="1" dirty="0" lang="en-US" sz="1000">
                <a:solidFill>
                  <a:srgbClr val="FFFFFF"/>
                </a:solidFill>
                <a:latin charset="0" pitchFamily="34" typeface="Calibri"/>
                <a:ea charset="-122" pitchFamily="34" typeface="Calibri"/>
                <a:cs charset="-120" pitchFamily="34" typeface="Calibri"/>
              </a:rPr>
              <a:t>[6]</a:t>
            </a:r>
            <a:endParaRPr dirty="0" lang="en-US" sz="1000"/>
          </a:p>
        </p:txBody>
      </p:sp>
      <p:sp>
        <p:nvSpPr>
          <p:cNvPr id="40" name="Text 38"/>
          <p:cNvSpPr/>
          <p:nvPr/>
        </p:nvSpPr>
        <p:spPr>
          <a:xfrm>
            <a:off x="777240" y="4197096"/>
            <a:ext cx="3200400" cy="237744"/>
          </a:xfrm>
          <a:prstGeom prst="rect">
            <a:avLst/>
          </a:prstGeom>
          <a:noFill/>
          <a:ln/>
        </p:spPr>
        <p:txBody>
          <a:bodyPr anchor="ctr" bIns="0" lIns="0" numCol="1" rIns="0" rtlCol="0" tIns="0" wrap="square"/>
          <a:lstStyle/>
          <a:p>
            <a:pPr indent="0" marL="0">
              <a:buNone/>
            </a:pPr>
            <a:r>
              <a:rPr b="1" dirty="0" lang="en-US" sz="1100">
                <a:solidFill>
                  <a:srgbClr val="FFFFFF"/>
                </a:solidFill>
                <a:latin charset="0" pitchFamily="34" typeface="Calibri"/>
                <a:ea charset="-122" pitchFamily="34" typeface="Calibri"/>
                <a:cs charset="-120" pitchFamily="34" typeface="Calibri"/>
              </a:rPr>
              <a:t>RoBERTa: Robustly Optimized BERT</a:t>
            </a:r>
            <a:endParaRPr dirty="0" lang="en-US" sz="1100"/>
          </a:p>
        </p:txBody>
      </p:sp>
      <p:sp>
        <p:nvSpPr>
          <p:cNvPr id="41" name="Text 39"/>
          <p:cNvSpPr/>
          <p:nvPr/>
        </p:nvSpPr>
        <p:spPr>
          <a:xfrm>
            <a:off x="777240" y="4434840"/>
            <a:ext cx="3200400" cy="182880"/>
          </a:xfrm>
          <a:prstGeom prst="rect">
            <a:avLst/>
          </a:prstGeom>
          <a:noFill/>
          <a:ln/>
        </p:spPr>
        <p:txBody>
          <a:bodyPr anchor="ctr" bIns="0" lIns="0" numCol="1" rIns="0" rtlCol="0" tIns="0" wrap="square"/>
          <a:lstStyle/>
          <a:p>
            <a:pPr indent="0" marL="0">
              <a:buNone/>
            </a:pPr>
            <a:r>
              <a:rPr dirty="0" lang="en-US" sz="900">
                <a:solidFill>
                  <a:srgbClr val="8EAAD4"/>
                </a:solidFill>
                <a:latin charset="0" pitchFamily="34" typeface="Calibri"/>
                <a:ea charset="-122" pitchFamily="34" typeface="Calibri"/>
                <a:cs charset="-120" pitchFamily="34" typeface="Calibri"/>
              </a:rPr>
              <a:t>Liu et al. (2019) — NLP Base Architecture</a:t>
            </a:r>
            <a:endParaRPr dirty="0" lang="en-US" sz="900"/>
          </a:p>
        </p:txBody>
      </p:sp>
      <p:sp>
        <p:nvSpPr>
          <p:cNvPr id="42" name="Text 40">
            <a:hlinkClick r:id="rId13"/>
          </p:cNvPr>
          <p:cNvSpPr/>
          <p:nvPr/>
        </p:nvSpPr>
        <p:spPr>
          <a:xfrm>
            <a:off x="4114800" y="4270248"/>
            <a:ext cx="4846320" cy="237744"/>
          </a:xfrm>
          <a:prstGeom prst="rect">
            <a:avLst/>
          </a:prstGeom>
          <a:noFill/>
          <a:ln/>
        </p:spPr>
        <p:txBody>
          <a:bodyPr anchor="ctr" bIns="0" lIns="0" numCol="1" rIns="0" rtlCol="0" tIns="0" wrap="square"/>
          <a:lstStyle/>
          <a:p>
            <a:pPr indent="0" marL="0">
              <a:buNone/>
            </a:pPr>
            <a:r>
              <a:rPr dirty="0" lang="en-US" sz="900" u="sng">
                <a:solidFill>
                  <a:srgbClr val="00B4D8"/>
                </a:solidFill>
                <a:latin charset="0" pitchFamily="34" typeface="Calibri"/>
                <a:ea charset="-122" pitchFamily="34" typeface="Calibri"/>
                <a:cs charset="-120" pitchFamily="34" typeface="Calibri"/>
                <a:hlinkClick r:id="rId14">
                  <a:extLst>
                    <a:ext uri="{A12FA001-AC4F-418D-AE19-62706E023703}">
                      <ahyp:hlinkClr xmlns:ahyp="http://schemas.microsoft.com/office/drawing/2018/hyperlinkcolor" val="tx"/>
                    </a:ext>
                  </a:extLst>
                </a:hlinkClick>
              </a:rPr>
              <a:t>https://arxiv.org/abs/1907.11692</a:t>
            </a:r>
            <a:endParaRPr dirty="0" lang="en-US" sz="900"/>
          </a:p>
        </p:txBody>
      </p:sp>
      <p:sp>
        <p:nvSpPr>
          <p:cNvPr id="43" name="Shape 41"/>
          <p:cNvSpPr/>
          <p:nvPr/>
        </p:nvSpPr>
        <p:spPr>
          <a:xfrm>
            <a:off x="182880" y="4709160"/>
            <a:ext cx="8778240" cy="9144"/>
          </a:xfrm>
          <a:prstGeom prst="rect">
            <a:avLst/>
          </a:prstGeom>
          <a:solidFill>
            <a:srgbClr val="1A3A6B"/>
          </a:solidFill>
          <a:ln w="12700">
            <a:solidFill>
              <a:srgbClr val="1A3A6B"/>
            </a:solidFill>
            <a:prstDash val="solid"/>
          </a:ln>
        </p:spPr>
      </p:sp>
      <p:sp>
        <p:nvSpPr>
          <p:cNvPr id="44" name="Text 42"/>
          <p:cNvSpPr/>
          <p:nvPr/>
        </p:nvSpPr>
        <p:spPr>
          <a:xfrm>
            <a:off x="182880" y="4617720"/>
            <a:ext cx="2011680" cy="228600"/>
          </a:xfrm>
          <a:prstGeom prst="rect">
            <a:avLst/>
          </a:prstGeom>
          <a:noFill/>
          <a:ln/>
        </p:spPr>
        <p:txBody>
          <a:bodyPr anchor="ctr" bIns="0" lIns="0" numCol="1" rIns="0" rtlCol="0" tIns="0" wrap="square"/>
          <a:lstStyle/>
          <a:p>
            <a:pPr indent="0" marL="0">
              <a:buNone/>
            </a:pPr>
            <a:r>
              <a:rPr b="1" dirty="0" lang="en-US" sz="1000">
                <a:solidFill>
                  <a:srgbClr val="00B4D8"/>
                </a:solidFill>
                <a:latin charset="0" pitchFamily="34" typeface="Calibri"/>
                <a:ea charset="-122" pitchFamily="34" typeface="Calibri"/>
                <a:cs charset="-120" pitchFamily="34" typeface="Calibri"/>
              </a:rPr>
              <a:t>GitHub Repository Link:</a:t>
            </a:r>
            <a:endParaRPr dirty="0" lang="en-US" sz="1000"/>
          </a:p>
        </p:txBody>
      </p:sp>
      <p:sp>
        <p:nvSpPr>
          <p:cNvPr id="45" name="Text 43"/>
          <p:cNvSpPr/>
          <p:nvPr/>
        </p:nvSpPr>
        <p:spPr>
          <a:xfrm>
            <a:off x="2240280" y="4617720"/>
            <a:ext cx="6720840" cy="228600"/>
          </a:xfrm>
          <a:prstGeom prst="rect">
            <a:avLst/>
          </a:prstGeom>
          <a:noFill/>
          <a:ln/>
        </p:spPr>
        <p:txBody>
          <a:bodyPr anchor="ctr" bIns="0" lIns="0" numCol="1" rIns="0" rtlCol="0" tIns="0" wrap="square"/>
          <a:lstStyle/>
          <a:p>
            <a:pPr indent="0" marL="0">
              <a:buNone/>
            </a:pPr>
            <a:r>
              <a:rPr dirty="0" lang="en-US" sz="1000">
                <a:solidFill>
                  <a:srgbClr val="90E0EF"/>
                </a:solidFill>
                <a:latin charset="0" pitchFamily="34" typeface="Calibri"/>
                <a:ea charset="-122" pitchFamily="34" typeface="Calibri"/>
                <a:cs charset="-120" pitchFamily="34" typeface="Calibri"/>
              </a:rPr>
              <a:t>https://github.com/GYAGNASRI/azure-elevate-sentiment-analyzer.git</a:t>
            </a:r>
            <a:endParaRPr dirty="0"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4D8"/>
          </a:solidFill>
          <a:ln w="12700">
            <a:solidFill>
              <a:srgbClr val="00B4D8"/>
            </a:solidFill>
            <a:prstDash val="solid"/>
          </a:ln>
        </p:spPr>
      </p:sp>
      <p:sp>
        <p:nvSpPr>
          <p:cNvPr id="3" name="Shape 1"/>
          <p:cNvSpPr/>
          <p:nvPr/>
        </p:nvSpPr>
        <p:spPr>
          <a:xfrm>
            <a:off x="2286000" y="457200"/>
            <a:ext cx="4572000" cy="4114800"/>
          </a:xfrm>
          <a:prstGeom prst="ellipse">
            <a:avLst/>
          </a:prstGeom>
          <a:solidFill>
            <a:srgbClr val="1565C0">
              <a:alpha val="10000"/>
            </a:srgbClr>
          </a:solidFill>
          <a:ln w="12700">
            <a:solidFill>
              <a:srgbClr val="1565C0">
                <a:alpha val="10000"/>
              </a:srgbClr>
            </a:solidFill>
            <a:prstDash val="solid"/>
          </a:ln>
        </p:spPr>
      </p:sp>
      <p:sp>
        <p:nvSpPr>
          <p:cNvPr id="4" name="Text 2"/>
          <p:cNvSpPr/>
          <p:nvPr/>
        </p:nvSpPr>
        <p:spPr>
          <a:xfrm>
            <a:off x="457200" y="1188720"/>
            <a:ext cx="8229600" cy="1188720"/>
          </a:xfrm>
          <a:prstGeom prst="rect">
            <a:avLst/>
          </a:prstGeom>
          <a:noFill/>
          <a:ln/>
        </p:spPr>
        <p:txBody>
          <a:bodyPr anchor="ctr" numCol="1" rtlCol="0" wrap="square"/>
          <a:lstStyle/>
          <a:p>
            <a:pPr algn="ctr" indent="0" marL="0">
              <a:buNone/>
            </a:pPr>
            <a:r>
              <a:rPr b="1" dirty="0" lang="en-US" sz="6000">
                <a:solidFill>
                  <a:srgbClr val="FFFFFF"/>
                </a:solidFill>
                <a:latin charset="0" pitchFamily="34" typeface="Calibri"/>
                <a:ea charset="-122" pitchFamily="34" typeface="Calibri"/>
                <a:cs charset="-120" pitchFamily="34" typeface="Calibri"/>
              </a:rPr>
              <a:t>THANK YOU</a:t>
            </a:r>
            <a:endParaRPr dirty="0" lang="en-US" sz="6000"/>
          </a:p>
        </p:txBody>
      </p:sp>
      <p:sp>
        <p:nvSpPr>
          <p:cNvPr id="5" name="Shape 3"/>
          <p:cNvSpPr/>
          <p:nvPr/>
        </p:nvSpPr>
        <p:spPr>
          <a:xfrm>
            <a:off x="3200400" y="2468880"/>
            <a:ext cx="2743200" cy="54864"/>
          </a:xfrm>
          <a:prstGeom prst="rect">
            <a:avLst/>
          </a:prstGeom>
          <a:solidFill>
            <a:srgbClr val="00B4D8"/>
          </a:solidFill>
          <a:ln w="12700">
            <a:solidFill>
              <a:srgbClr val="00B4D8"/>
            </a:solidFill>
            <a:prstDash val="solid"/>
          </a:ln>
        </p:spPr>
      </p:sp>
      <p:sp>
        <p:nvSpPr>
          <p:cNvPr id="6" name="Text 4"/>
          <p:cNvSpPr/>
          <p:nvPr/>
        </p:nvSpPr>
        <p:spPr>
          <a:xfrm>
            <a:off x="457200" y="2651760"/>
            <a:ext cx="8229600" cy="457200"/>
          </a:xfrm>
          <a:prstGeom prst="rect">
            <a:avLst/>
          </a:prstGeom>
          <a:noFill/>
          <a:ln/>
        </p:spPr>
        <p:txBody>
          <a:bodyPr anchor="ctr" numCol="1" rtlCol="0" wrap="square"/>
          <a:lstStyle/>
          <a:p>
            <a:pPr algn="ctr" indent="0" marL="0">
              <a:buNone/>
            </a:pPr>
            <a:r>
              <a:rPr dirty="0" lang="en-US" sz="1600">
                <a:solidFill>
                  <a:srgbClr val="90E0EF"/>
                </a:solidFill>
                <a:latin charset="0" pitchFamily="34" typeface="Calibri"/>
                <a:ea charset="-122" pitchFamily="34" typeface="Calibri"/>
                <a:cs charset="-120" pitchFamily="34" typeface="Calibri"/>
              </a:rPr>
              <a:t>AI-Powered Sentiment Analyzer</a:t>
            </a:r>
            <a:endParaRPr dirty="0" lang="en-US" sz="1600"/>
          </a:p>
        </p:txBody>
      </p:sp>
      <p:sp>
        <p:nvSpPr>
          <p:cNvPr id="7" name="Text 5"/>
          <p:cNvSpPr/>
          <p:nvPr/>
        </p:nvSpPr>
        <p:spPr>
          <a:xfrm>
            <a:off x="457200" y="3200400"/>
            <a:ext cx="8229600" cy="365760"/>
          </a:xfrm>
          <a:prstGeom prst="rect">
            <a:avLst/>
          </a:prstGeom>
          <a:noFill/>
          <a:ln/>
        </p:spPr>
        <p:txBody>
          <a:bodyPr anchor="ctr" numCol="1" rtlCol="0" wrap="square"/>
          <a:lstStyle/>
          <a:p>
            <a:pPr algn="ctr" indent="0" marL="0">
              <a:buNone/>
            </a:pPr>
            <a:r>
              <a:rPr dirty="0" lang="en-US" sz="11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1100"/>
          </a:p>
        </p:txBody>
      </p:sp>
      <p:sp>
        <p:nvSpPr>
          <p:cNvPr id="8" name="Text 6"/>
          <p:cNvSpPr/>
          <p:nvPr/>
        </p:nvSpPr>
        <p:spPr>
          <a:xfrm>
            <a:off x="457200" y="3794760"/>
            <a:ext cx="8229600" cy="365760"/>
          </a:xfrm>
          <a:prstGeom prst="rect">
            <a:avLst/>
          </a:prstGeom>
          <a:noFill/>
          <a:ln/>
        </p:spPr>
        <p:txBody>
          <a:bodyPr anchor="ctr" numCol="1" rtlCol="0" wrap="square"/>
          <a:lstStyle/>
          <a:p>
            <a:pPr algn="ctr" indent="0" marL="0">
              <a:buNone/>
            </a:pPr>
            <a:r>
              <a:rPr dirty="0" lang="en-US" sz="1100">
                <a:solidFill>
                  <a:srgbClr val="00B4D8"/>
                </a:solidFill>
                <a:latin charset="0" pitchFamily="34" typeface="Calibri"/>
                <a:ea charset="-122" pitchFamily="34" typeface="Calibri"/>
                <a:cs charset="-120" pitchFamily="34" typeface="Calibri"/>
              </a:rPr>
              <a:t>#HuggingFace   #NLP   #Python   #AzureElevate   #AICTE   #MachineLearning</a:t>
            </a:r>
            <a:endParaRPr dirty="0" lang="en-US" sz="1100"/>
          </a:p>
        </p:txBody>
      </p:sp>
      <p:sp>
        <p:nvSpPr>
          <p:cNvPr id="9" name="Shape 7"/>
          <p:cNvSpPr/>
          <p:nvPr/>
        </p:nvSpPr>
        <p:spPr>
          <a:xfrm>
            <a:off x="0" y="4873752"/>
            <a:ext cx="9144000" cy="269748"/>
          </a:xfrm>
          <a:prstGeom prst="rect">
            <a:avLst/>
          </a:prstGeom>
          <a:solidFill>
            <a:srgbClr val="0D3B6E"/>
          </a:solidFill>
          <a:ln w="12700">
            <a:solidFill>
              <a:srgbClr val="0D3B6E"/>
            </a:solidFill>
            <a:prstDash val="solid"/>
          </a:ln>
        </p:spPr>
      </p:sp>
      <p:sp>
        <p:nvSpPr>
          <p:cNvPr id="10" name="Text 8"/>
          <p:cNvSpPr/>
          <p:nvPr/>
        </p:nvSpPr>
        <p:spPr>
          <a:xfrm>
            <a:off x="182880" y="4873752"/>
            <a:ext cx="8778240" cy="269748"/>
          </a:xfrm>
          <a:prstGeom prst="rect">
            <a:avLst/>
          </a:prstGeom>
          <a:noFill/>
          <a:ln/>
        </p:spPr>
        <p:txBody>
          <a:bodyPr anchor="ctr" bIns="0" lIns="0" numCol="1" rIns="0" rtlCol="0" tIns="0" wrap="square"/>
          <a:lstStyle/>
          <a:p>
            <a:pPr algn="ctr" indent="0" marL="0">
              <a:buNone/>
            </a:pPr>
            <a:r>
              <a:rPr dirty="0" lang="en-US" sz="900">
                <a:solidFill>
                  <a:srgbClr val="8EAAD4"/>
                </a:solidFill>
                <a:latin charset="0" pitchFamily="34" typeface="Calibri"/>
                <a:ea charset="-122" pitchFamily="34" typeface="Calibri"/>
                <a:cs charset="-120" pitchFamily="34" typeface="Calibri"/>
              </a:rPr>
              <a:t>Microsoft Azure Elevate Program  |  Edunet Foundation &amp; AICTE  |  2026</a:t>
            </a:r>
            <a:endParaRPr dirty="0" lang="en-US" sz="90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panose="020F0302020204030204"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panose="020F0502020204030204"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algn="ctr" cap="flat" cmpd="sng" w="6350">
          <a:solidFill>
            <a:schemeClr val="phClr"/>
          </a:solidFill>
          <a:prstDash val="solid"/>
          <a:miter lim="800000"/>
        </a:ln>
        <a:ln algn="ctr" cap="flat" cmpd="sng" w="12700">
          <a:solidFill>
            <a:schemeClr val="phClr"/>
          </a:solidFill>
          <a:prstDash val="solid"/>
          <a:miter lim="800000"/>
        </a:ln>
        <a:ln algn="ctr" cap="flat" cmpd="sng" w="19050">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id="{62F939B6-93AF-4DB8-9C6B-D6C7DFDC589F}" name="Office Theme" vid="{4A3C46E8-61CC-4603-A589-7422A47A8E4A}"/>
    </a:ext>
  </a:extLst>
</a:theme>
</file>

<file path=docProps/app.xml><?xml version="1.0" encoding="utf-8"?>
<Properties xmlns="http://schemas.openxmlformats.org/officeDocument/2006/extended-properties" xmlns:vt="http://schemas.openxmlformats.org/officeDocument/2006/docPropsVTypes">
  <Company>PptxGenJS</Company>
  <Words>0</Words>
  <Paragraphs>0</Paragraphs>
  <Slides>11</Slides>
  <Notes>11</Notes>
  <TotalTime>0</TotalTime>
  <HiddenSlides>0</HiddenSlides>
  <MMClips>0</MMClips>
  <ScaleCrop>false</ScaleCrop>
  <HeadingPairs>
    <vt:vector baseType="variant" size="6">
      <vt:variant>
        <vt:lpstr>Fonts Used</vt:lpstr>
      </vt:variant>
      <vt:variant>
        <vt:i4>2</vt:i4>
      </vt:variant>
      <vt:variant>
        <vt:lpstr>Theme</vt:lpstr>
      </vt:variant>
      <vt:variant>
        <vt:i4>1</vt:i4>
      </vt:variant>
      <vt:variant>
        <vt:lpstr>Slide Titles</vt:lpstr>
      </vt:variant>
      <vt:variant>
        <vt:i4>11</vt:i4>
      </vt:variant>
    </vt:vector>
  </HeadingPairs>
  <TitlesOfParts>
    <vt:vector baseType="lpstr" size="14">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false</LinksUpToDate>
  <SharedDoc>false</SharedDoc>
  <HyperlinksChanged>false</HyperlinksChanged>
  <Application>Microsoft Office PowerPoint</Application>
  <AppVersion>16.0000</AppVersion>
  <PresentationFormat>On-screen Show (16:9)</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2026-02-28T11:27:38Z</dcterms:created>
  <dc:creator>Azure Elevate Intern</dc:creator>
  <cp:lastModifiedBy>Azure Elevate Intern</cp:lastModifiedBy>
  <dcterms:modified xsi:type="dcterms:W3CDTF">2026-02-28T11:27:38Z</dcterms:modified>
  <cp:revision>1</cp:revision>
  <dc:subject>PptxGenJS Presentation</dc:subject>
  <dc:title>AI Sentiment Analyzer - Azure Elevate</dc:title>
</cp:coreProperties>
</file>